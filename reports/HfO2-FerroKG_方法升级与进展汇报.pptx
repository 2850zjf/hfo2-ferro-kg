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d7b81e8934a24" /><Relationship Type="http://schemas.openxmlformats.org/officeDocument/2006/relationships/extended-properties" Target="/docProps/app.xml" Id="Re724cb53b7b44bd6" /><Relationship Type="http://schemas.openxmlformats.org/officeDocument/2006/relationships/officeDocument" Target="/ppt/presentation.xml" Id="Re689ea4b89f5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6c8db9ea74d77"/>
  </p:sldMasterIdLst>
  <p:notesMasterIdLst>
    <p:notesMasterId xmlns:r="http://schemas.openxmlformats.org/officeDocument/2006/relationships" r:id="R49cd4fc961c3470a"/>
  </p:notesMasterIdLst>
  <p:sldIdLst>
    <p:sldId xmlns:r="http://schemas.openxmlformats.org/officeDocument/2006/relationships" id="256" r:id="R1eee065f87ae4a5b"/>
    <p:sldId xmlns:r="http://schemas.openxmlformats.org/officeDocument/2006/relationships" id="257" r:id="Raa124d2227694d50"/>
    <p:sldId xmlns:r="http://schemas.openxmlformats.org/officeDocument/2006/relationships" id="258" r:id="Rb39aec54000c4971"/>
    <p:sldId xmlns:r="http://schemas.openxmlformats.org/officeDocument/2006/relationships" id="259" r:id="R8c8f05968b364db9"/>
    <p:sldId xmlns:r="http://schemas.openxmlformats.org/officeDocument/2006/relationships" id="260" r:id="R04300cea1ba54344"/>
    <p:sldId xmlns:r="http://schemas.openxmlformats.org/officeDocument/2006/relationships" id="261" r:id="Rfc5d4a43568648f0"/>
    <p:sldId xmlns:r="http://schemas.openxmlformats.org/officeDocument/2006/relationships" id="262" r:id="R5ce6a86848184e2e"/>
    <p:sldId xmlns:r="http://schemas.openxmlformats.org/officeDocument/2006/relationships" id="263" r:id="R242a2f64dcdb47a5"/>
    <p:sldId xmlns:r="http://schemas.openxmlformats.org/officeDocument/2006/relationships" id="264" r:id="R0e97f6e045614448"/>
    <p:sldId xmlns:r="http://schemas.openxmlformats.org/officeDocument/2006/relationships" id="265" r:id="R779994b7c2a04d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6c8db9ea74d77" /><Relationship Type="http://schemas.openxmlformats.org/officeDocument/2006/relationships/theme" Target="/ppt/theme/theme1.xml" Id="R4ba1ab6a558f455c" /><Relationship Type="http://schemas.openxmlformats.org/officeDocument/2006/relationships/notesMaster" Target="/ppt/notesMasters/notesMaster1.xml" Id="R49cd4fc961c3470a" /><Relationship Type="http://schemas.openxmlformats.org/officeDocument/2006/relationships/presProps" Target="/ppt/presProps.xml" Id="Ree72dfbb24b44abe" /><Relationship Type="http://schemas.openxmlformats.org/officeDocument/2006/relationships/viewProps" Target="/ppt/viewProps.xml" Id="R10c529d942234412" /><Relationship Type="http://schemas.openxmlformats.org/officeDocument/2006/relationships/tableStyles" Target="/ppt/tableStyles.xml" Id="Re26e2854284b4a21" /><Relationship Type="http://schemas.openxmlformats.org/officeDocument/2006/relationships/slide" Target="/ppt/slides/slide1.xml" Id="R1eee065f87ae4a5b" /><Relationship Type="http://schemas.openxmlformats.org/officeDocument/2006/relationships/slide" Target="/ppt/slides/slide2.xml" Id="Raa124d2227694d50" /><Relationship Type="http://schemas.openxmlformats.org/officeDocument/2006/relationships/slide" Target="/ppt/slides/slide3.xml" Id="Rb39aec54000c4971" /><Relationship Type="http://schemas.openxmlformats.org/officeDocument/2006/relationships/slide" Target="/ppt/slides/slide4.xml" Id="R8c8f05968b364db9" /><Relationship Type="http://schemas.openxmlformats.org/officeDocument/2006/relationships/slide" Target="/ppt/slides/slide5.xml" Id="R04300cea1ba54344" /><Relationship Type="http://schemas.openxmlformats.org/officeDocument/2006/relationships/slide" Target="/ppt/slides/slide6.xml" Id="Rfc5d4a43568648f0" /><Relationship Type="http://schemas.openxmlformats.org/officeDocument/2006/relationships/slide" Target="/ppt/slides/slide7.xml" Id="R5ce6a86848184e2e" /><Relationship Type="http://schemas.openxmlformats.org/officeDocument/2006/relationships/slide" Target="/ppt/slides/slide8.xml" Id="R242a2f64dcdb47a5" /><Relationship Type="http://schemas.openxmlformats.org/officeDocument/2006/relationships/slide" Target="/ppt/slides/slide9.xml" Id="R0e97f6e045614448" /><Relationship Type="http://schemas.openxmlformats.org/officeDocument/2006/relationships/slide" Target="/ppt/slides/slide10.xml" Id="R779994b7c2a04d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cad79c0f23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af329212d947bd" /><Relationship Type="http://schemas.openxmlformats.org/officeDocument/2006/relationships/notesMaster" Target="/ppt/notesMasters/notesMaster1.xml" Id="Rb353136c1671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fb99d7443847e3" /><Relationship Type="http://schemas.openxmlformats.org/officeDocument/2006/relationships/notesMaster" Target="/ppt/notesMasters/notesMaster1.xml" Id="R22c5915c4d87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356af160c4308" /><Relationship Type="http://schemas.openxmlformats.org/officeDocument/2006/relationships/notesMaster" Target="/ppt/notesMasters/notesMaster1.xml" Id="Rc221c325aa7c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117b145584e4b" /><Relationship Type="http://schemas.openxmlformats.org/officeDocument/2006/relationships/notesMaster" Target="/ppt/notesMasters/notesMaster1.xml" Id="Rc41b642dd0cb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0b9de792b4ea8" /><Relationship Type="http://schemas.openxmlformats.org/officeDocument/2006/relationships/notesMaster" Target="/ppt/notesMasters/notesMaster1.xml" Id="R2100f320dba34f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c383a3f324396" /><Relationship Type="http://schemas.openxmlformats.org/officeDocument/2006/relationships/notesMaster" Target="/ppt/notesMasters/notesMaster1.xml" Id="R10848b6d26d449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c17b7384f94965" /><Relationship Type="http://schemas.openxmlformats.org/officeDocument/2006/relationships/notesMaster" Target="/ppt/notesMasters/notesMaster1.xml" Id="R68b4b477cb4b4e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606c71b37245fe" /><Relationship Type="http://schemas.openxmlformats.org/officeDocument/2006/relationships/notesMaster" Target="/ppt/notesMasters/notesMaster1.xml" Id="Ra250c6934bcd48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dae4a00d614f20" /><Relationship Type="http://schemas.openxmlformats.org/officeDocument/2006/relationships/notesMaster" Target="/ppt/notesMasters/notesMaster1.xml" Id="Ref04b3a86c8447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1d2a2916843e5" /><Relationship Type="http://schemas.openxmlformats.org/officeDocument/2006/relationships/notesMaster" Target="/ppt/notesMasters/notesMaster1.xml" Id="R55acaa4feccb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c80d602b04c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f6a024897934f00" /><Relationship Type="http://schemas.openxmlformats.org/officeDocument/2006/relationships/slideLayout" Target="/ppt/slideLayouts/slideLayout2.xml" Id="R476050fab2ac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050fab2ac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dba8aec2c41bd" /><Relationship Type="http://schemas.openxmlformats.org/officeDocument/2006/relationships/notesSlide" Target="/ppt/notesSlides/notesSlide1.xml" Id="R69570558dbfa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af991f0e942a9" /><Relationship Type="http://schemas.openxmlformats.org/officeDocument/2006/relationships/notesSlide" Target="/ppt/notesSlides/notesSlide2.xml" Id="Rd26e01f157fb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f4c84b7e1401f" /><Relationship Type="http://schemas.openxmlformats.org/officeDocument/2006/relationships/notesSlide" Target="/ppt/notesSlides/notesSlide3.xml" Id="R7077364afc5340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9f4daf5af74873" /><Relationship Type="http://schemas.openxmlformats.org/officeDocument/2006/relationships/notesSlide" Target="/ppt/notesSlides/notesSlide4.xml" Id="R34a54edd58d24b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e230596e754b99" /><Relationship Type="http://schemas.openxmlformats.org/officeDocument/2006/relationships/notesSlide" Target="/ppt/notesSlides/notesSlide5.xml" Id="Rbaf9af7645ec42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5e4c70b134e04" /><Relationship Type="http://schemas.openxmlformats.org/officeDocument/2006/relationships/notesSlide" Target="/ppt/notesSlides/notesSlide6.xml" Id="R071f19921395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28767b5ab441d" /><Relationship Type="http://schemas.openxmlformats.org/officeDocument/2006/relationships/notesSlide" Target="/ppt/notesSlides/notesSlide7.xml" Id="Rb78ca22cef78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2bb3ca09d46ee" /><Relationship Type="http://schemas.openxmlformats.org/officeDocument/2006/relationships/notesSlide" Target="/ppt/notesSlides/notesSlide8.xml" Id="R914fedd9cdd4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e84db8c43e40d9" /><Relationship Type="http://schemas.openxmlformats.org/officeDocument/2006/relationships/notesSlide" Target="/ppt/notesSlides/notesSlide9.xml" Id="R2fdb6c8e6e2b4d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21544223034fc3" /><Relationship Type="http://schemas.openxmlformats.org/officeDocument/2006/relationships/notesSlide" Target="/ppt/notesSlides/notesSlide10.xml" Id="Rf460955d4efb43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C7776-4E2B-43D5-A33A-C89704D3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8DCB-EACA-40E1-B261-9067FD9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0D6C-63DA-4B87-A37B-AA43F85D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9F9D5-C9C7-46D3-8983-18966C2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HfO2-FerroKG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7B91B-E9B8-40D5-8FD1-AABBDEF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D17E9-F84A-499D-AE59-2F55CF6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方法升级与项目进展汇报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A25D0-E280-44D0-987D-7AECC6F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从 213+ 篇 PDF 到持续接入、证据可追溯、GraphRAG-ready 的材料知识图谱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1E186-A9DD-4A12-8F4A-7000FCE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CEB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FAC46-4AAB-4D4B-8B71-716CEDA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本体先行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FBBF9-0C27-4530-99DC-FAFDA35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957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5"/>
          </a:solidFill>
          <a:ln xmlns:a="http://schemas.openxmlformats.org/drawingml/2006/main" w="9525">
            <a:solidFill>
              <a:srgbClr val="DEE7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DDA81-53CD-456C-ACD1-05B4AF45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混合抽取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F2823-D796-4F87-9110-119DB9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C7"/>
          </a:solidFill>
          <a:ln xmlns:a="http://schemas.openxmlformats.org/drawingml/2006/main" w="9525">
            <a:solidFill>
              <a:srgbClr val="F3E6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C4FEF-69FE-4540-80FF-82517B91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3902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3902F"/>
                </a:solidFill>
                <a:latin typeface="Aptos"/>
                <a:ea typeface="Aptos"/>
                <a:cs typeface="Aptos"/>
              </a:rPr>
              <a:t>机器预审核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4D47D-23E7-4678-8D04-5FC778E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CEB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BBE79-4A82-42B8-8672-9BB72E2B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持续增量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73958-F1CA-45F6-805B-CAA1074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47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1319A-BA69-4ECD-B899-E1611FB8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当前快照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97E84-0BF2-4BC4-80D7-DF4F4844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PDF 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22772-8A6A-448D-BD52-950F9AA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217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BF4E2-27E9-4513-9385-E186A1C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解析页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F8740-B1EA-4BE6-B034-7C89A206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57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3091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04EB3-78BB-4ECE-899E-892EF03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表格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B87E6-7181-4F27-B2DB-CD650D2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146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386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6C746-63D3-4908-B15C-EB8BDA4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候选事实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32EC0-D9B2-41E9-9099-8F1A7331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6620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D585D-C0C9-47D3-8D90-38C217A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机器预审事实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E9F58-718D-4443-8136-65C10133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290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505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5A6AD-14AE-41BD-9F1B-1624790E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60CB6-CDD0-41A7-B35C-3D7766F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C98EC-BC58-44DA-9CC8-A0ED8222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09721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27954-3605-4D3F-8883-25A617A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E239E-2416-4558-A136-050B463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8B10-D32D-42AB-95B9-2DDB97B2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问题不是缺论文，而是缺可复现的证据链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B1E3E-D0AC-465B-9F0C-3BF61BC2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3F7BC-F0F7-4E79-B639-DBB6ABD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AFE7E-DBD8-4F0D-9E18-94B0C79A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数值碎片化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4BE82-3D63-4106-93F0-00DF666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2Pr、Pr、Ec、endurance 等值散落在正文、表格、图注和综述引用中。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458C1-D838-4540-9AFF-B613428F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B9031-DA6A-4E77-9D3F-2337B6D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4E359-FDDC-4200-8793-15E612A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样品条件错配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C757D-5E57-4247-AD13-7113E1BF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同一 HZO 材料在不同厚度、电极、退火和相结构下性能差异巨大。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62FC0-4739-41F9-A8DD-A2597807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E5FC6-24C4-4A77-9CAD-2A0D676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D82FF-475B-4F35-9536-BD8C264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RAG 容易编造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05362-114A-490A-9627-EA540E85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纯向量检索能找到相似段落，但不能保证数值、页码、样品关系正确。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88FC7-BE1B-4A0B-8B9D-7FDBC58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00AA3-CDCB-4874-A633-401757E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B76D4-94A1-47C1-A4E0-A545BA88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94AB0-7081-4108-8849-A449DBFB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76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A505C-FFA5-4DBA-A083-413DF39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5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BE53B-1287-47F2-A269-1B0935AC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工艺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63085-EE86-4FCC-9F8D-264A55F3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F8BBB-8B90-4419-AA15-C2874615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62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2E89F-C177-4EE2-8DD4-7F85565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相结构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868D1-0713-4584-A44C-1F935EFC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90537-FDF4-4C2C-A633-3CA8046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5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D62D9-B10A-4F1D-B05F-181C439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性能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CCE6D-5970-4550-80F4-0E272D2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76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AD440-CE32-486B-9975-C13DA81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47EAC2-450E-40E6-9B38-9A6019E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D7366-887C-4803-B38F-AD171D2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目标：把每个事实变成带 paper、DOI、page、chunk、evidence_text、ontology_version 的可审计 claim。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455D2-419C-4139-B259-6FDE32A4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1C69DB-3867-4B0C-9754-985D39D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595DA-5845-4DE3-BACB-F9E94CC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37036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53B1C-E8B9-417D-9773-3BF2A230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32EF3-1126-4C31-92E0-6C6091C0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3B500-C976-43D1-99F2-C57B389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最新方法调研给出的五个设计原则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92A9E-A8F3-479E-B222-FA5C561D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AE801-1BE6-4F08-B3EB-B633204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A1247-8080-4FB9-91C6-DA5827F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材料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E0C3B-70AD-478F-894F-7A7EA40E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478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MatKG 证明自动文献构图可扩展，但 HfO2 需要样品级上下文。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2B659-6D00-4494-AA5F-6733519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26026-42C5-4C50-A8B7-785AE62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DFD15-ED98-41BC-BC02-250ED40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LLM-KG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7C07A-16F3-436B-8879-3DBB6AA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主流方法把本体工程、抽取、融合拆开；我们采用 ontology-first。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ACD5D-DE3F-4E36-86F0-3C8F0D0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0DDC5-2D02-425E-9C80-BC8441C4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C3F09-5F86-4773-AC70-09F8984D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F6418-CEF2-484D-AB2A-7147873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适合全库趋势和机制综述，不只做单段检索。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C50BD-2662-4940-83E0-8753C956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A6C60-4CBB-4419-AB72-4BACD08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972EE-B2F3-45B1-A828-C70A26E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表格抽取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C8E97-1BD1-4EFF-B546-0C1B59D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材料事实大量藏在异质表格中，需要缓存和人工反馈。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03878-701E-4C22-A126-A193ED05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5508A-A21A-4205-B979-45E28F6C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ECFD8-E1E5-4D2A-BDBF-24A49EF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结构化输出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DD46F-B2E1-4216-9B4C-60D5E8F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LLM 必须受 schema、单位、证据字段约束。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FC3E3-05CB-41FB-A52C-51C50D4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8B799-A0F3-4909-91E9-12F9CDEF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971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结论：HfO2-FerroKG 应是持续生长的 evidence graph，而不是一次性 Excel 抽取。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DC855-3391-4F56-ADC2-A739BE58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0D527-12B7-47DF-BBC0-7FC5575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985887-6E9F-44DF-B979-980B5D6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42317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22DBE-A88F-4395-AEE4-B194912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8C82B-595A-4436-ADC7-A11D663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8FEF8-B358-4917-A3F2-90139B5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我们升级为 ontology-first 的混合构图流水线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26341-1F1C-433D-A5F8-A38536F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45B3-514B-4950-934A-A00F288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D2BC2-EE8F-46AD-A428-609D5CB0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508FC-2617-4435-8C3E-081BCAB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开放/本地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D4D26-A616-4EEA-A398-F29B670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F205A-D8AA-4293-BBAA-94ACB50A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4212E-D6DB-4DD9-85F9-AB42B77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4358B-C3FE-4F4D-90F0-4F3E708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8D4F2-3624-4E2C-8C84-BB87E5AC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62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Manifest 去重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E39F9-2FE9-43FE-BB7E-8CE1241C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383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C67FB-6FF4-46F0-861C-821A6E5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0E023-827F-4002-8538-EEFAD7B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961AC-6776-42BA-AC90-27115AC6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9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390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7CFEA-4C47-434D-918E-429C1A2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页面/表格解析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7AE6E-9E09-4112-8C95-6CD19AC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7917E-3B32-4610-8C82-68C21C9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9EB59-4A32-4208-A6AD-62C4C28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917E0-400D-402E-B031-9A98909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4B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DD4F6-99BE-4B23-9A6A-5077D522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本体构建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42B7C-2BC1-40E9-A078-9B18B8EE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D2A40-B42D-479F-AB3E-8BC1BA5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55CDB-C54D-4C44-84D6-0FF0918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A88FB3-6B9A-4C88-9565-493D94F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高价值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2B409-766A-468E-B7BC-4B84EBF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841C3-438A-4567-B370-0F92956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30BE2-7816-4FB1-B3D5-5EFFC716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042A7-8EBA-48F1-B4AC-C6715C9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11EE1-EF89-48E6-80E6-87CC4DD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62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规则+LLM 抽取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DE992-30D3-47BE-A3CC-51A46B3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386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0A4E8-18F5-49DF-B1C6-808BE7C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21447-A39B-468E-BFC8-BD64DDD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18C19-6D8E-4449-8C15-FBBA320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90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3902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792DD8-2A23-4E72-82F9-3E7B194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机器预审核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65274-CD31-435A-9FDF-820BDE9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347864-81E0-4F74-A459-DE31DF3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E62ADC-CF6C-4C30-9D8E-5D21AF8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44073B-AA65-4D1C-B0EB-169693B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4B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F2A349-0FAB-4587-BED1-381E5C6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Graph + RAG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31F09A-31B1-4E5A-8003-9EC2E63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每条候选事实写入 ontology_version、extractor_version、confidence、status、evidence_text。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45B15A-289B-40B4-A7C9-C04631A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534781-8740-4C45-841A-992B233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C53583-1BB3-4E1A-A651-D5FEE2E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1247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3E33F1-C68F-4AEC-B31D-08270697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D2767-7D61-472F-ADD3-2DBB666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F4FC4-1543-47A8-A87A-BD53C01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数据本体：把 HfO2 论文变成样品级证据图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9D37A-D527-4C3D-8D4E-DFD66CE3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BC7AB-11BC-4686-8F57-D68F0C3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38911-E017-4C79-AC2B-51744D8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Paper/PDFFile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1D063-381A-4E71-A6C2-083C4A6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来源、DOI、页码、解析质量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00F95-54B8-4119-B80B-3F74E68D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16EA-CF47-4C2D-9C55-33C7F043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9E9BE-E10A-48B1-8719-6E331DF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HafniaMaterial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C7E91-E2D5-48C7-94EB-A3D8A026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HfO2/HZO/掺杂/组分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D3CF9-F80A-4B2C-8A78-8BBB6FCE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2A4C1-AD90-42D2-B286-920ED148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A16E-09E0-49F3-BFEF-49362441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ThinFilmSample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6776E-8F87-427F-AE5E-A3149A6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厚度、电极、衬底、退火、stack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9DD22-5EF2-4F00-8C86-FAB0DD0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DF6E2-F907-4AA3-9582-B4A00150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08633-7D33-48A6-92F0-C41E594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PhaseStructure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ABAD7-F7A6-4B2C-A820-EBFE63C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orthorhombic、Pca21、XRD 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E1C28-FE45-4B2E-A30E-6027FDBA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878F7-C8EC-4EF0-B6AB-088EB96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1ED26-7FB2-432C-8D5B-3022188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FerroelectricProperty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CFAD3-597D-4715-9A24-DF83A18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Pr、2Pr、Ec、endurance、memory window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969D8-79E1-4DC4-8F0C-3E1125A8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2F7D5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08A9E-B6EB-4686-BA9C-B41C026D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288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ThinFilmSample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5A63A-EB12-40E3-B327-BF0BE63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2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01742-38BB-4EE6-85CF-CDA6AF9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239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Material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7E65C-C92D-44C4-950F-61E3B74A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4F204-4A54-4544-9975-72A2154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BD537-6099-44AC-8E3C-9502C700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A1F56E-37FD-46D7-810E-F24BCD23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EF17-937C-4A92-97C3-8C2AABBC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B8AD79-0E24-4761-9B71-7F6F555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F841E4-8ECC-4397-A235-66CC4432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7657F-037B-4048-B1F9-65A324A1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5A362-EA11-4239-A297-4CD9523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2C002-83F1-4672-8617-0BE9DCC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A2B062-5E70-4FF0-BA4A-4913AA25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1049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391F13-DA42-4094-9097-550312A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43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895EA0-7AF8-455B-A1CE-77746F7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05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AB945E-285C-48E7-9423-6CC46E27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84352-B0AE-4309-9F80-4F21FC1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7675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D4B4F4-2DD0-4B00-9061-02C551C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23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19704E-875A-4BCA-B87A-6712926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核心选择：不以 Material 直接连 Property，而以 Sample 承载工艺和器件上下文。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A0D320-D871-4CE5-A91B-01A0B015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6CAA43-09F7-40BD-A314-43FD13A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FBE54B-25D2-4D0D-8ACA-3A68F28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0138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05804-FA10-42A3-8C7D-FF11CA1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DDD1-84A6-4A76-9A08-F05BB0D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2B57-B01C-43F4-8C23-FB552C66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持续接入：新文献进入候选区，再增量抽取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DB9C7-4097-4D90-A581-747C3F46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7EC1-875E-49C8-8563-B49E531F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D8FF4-EC00-409D-B3B3-8AF23F3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294CD-993F-44B6-B492-122DCE6D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OpenAlex/Crossref</a:t>
            </a:r>
          </a:p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标题、DOI、摘要、OA 链接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64E6-E406-4B7A-A1C5-D140398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FA19F-B616-450D-9BCC-B51B127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F1E68-9D34-4415-B1DF-5DA134E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BCAEE-214B-411A-B34B-122846D6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下载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08135-7F09-4737-981F-9DD416CA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仅 verified open-access PDF</a:t>
            </a:r>
          </a:p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检查 PDF 头、hash、页数、大小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A18FD-8179-4A49-8616-38CE7EE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6A1B1-5D88-4FEA-AD94-4F25E383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5D5F6-CFB2-4798-A1F6-9773791D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FF6B0-EE85-4DE7-B83E-43FC721D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增量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287B4-3AFA-44E3-90D0-F10DDBA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只解析 pending PDF</a:t>
            </a:r>
          </a:p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只抽取未处理 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A4D4D-8944-4E0F-AB70-6774F59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2C800-DC45-4A6E-AE95-596337D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98940-C547-404F-9510-412F583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CC147-FF59-4541-B8B6-AB72F96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融合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0DA80-D234-43BF-BADB-044E418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重建图谱和索引</a:t>
            </a:r>
          </a:p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保留历史版本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DC201-276C-46BF-9DB9-1DBE23E5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4110F-A866-464C-9722-022B2AB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2D42C-80FE-451D-A576-7666824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07DD2-942E-4BB1-86E7-598B49B4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19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05B19-31EB-49B4-826A-54CB4D9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机器预审不等于人工批准</a:t>
            </a:r>
          </a:p>
          <a:p xmlns:a="http://schemas.openxmlformats.org/drawingml/2006/main">
            <a:pPr algn="l">
              <a:defRPr sz="9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后续人工确认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4EC2C-7A4A-4911-984F-59E6A55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23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5"/>
          </a:solidFill>
          <a:ln xmlns:a="http://schemas.openxmlformats.org/drawingml/2006/main" w="9525">
            <a:solidFill>
              <a:srgbClr val="3563A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91D86-0355-4759-BE3B-EC37A810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已新增：literature_candidates 表、开放 PDF 下载器、14_ingest_new_open_access 增量管线。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F1420-2AEA-4069-A22C-A457F87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DEA1B-C5A6-42EA-9B9F-0F908DD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1D526-A1D5-4FE1-9754-6385A39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1682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B73A4-D38C-4632-8C74-DAF6BC09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693A2-6B19-4FC0-B2B0-581097A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1DE9-8C1A-42FF-8FB9-1E98495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当前结果：闭环已跑通，但仍处于机器预审核阶段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6940E-E76B-4CE1-BD48-49FE0209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9B6C-24BC-43B4-962B-33425EB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217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896A6-9021-4F24-A6D4-B70C936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PDF 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70DF3-D865-48F5-983B-F5A1C39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24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DA96F-A5B1-45CC-AB97-873F565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1450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3091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C0027-048F-4666-8834-D150681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解析页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7E245-0241-4341-A309-F6A9A35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FB98E-1461-4252-BD90-E91A6B76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390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3902F"/>
                </a:solidFill>
                <a:latin typeface="Aptos"/>
                <a:ea typeface="Aptos"/>
                <a:cs typeface="Aptos"/>
              </a:rPr>
              <a:t>386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88AD1-3082-4725-93A0-3D450A2A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717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表格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5A996-597F-4687-92FB-9E29C2E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24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6722C-9E4E-44CA-99F3-2A369E8D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54B4B"/>
                </a:solidFill>
                <a:latin typeface="Aptos"/>
                <a:ea typeface="Aptos"/>
                <a:cs typeface="Aptos"/>
              </a:rPr>
              <a:t>6620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D623F-1A39-4A01-9B26-CD0B184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候选事实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489BF-6830-4EED-86D2-9C8BB410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24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C9E3D-3C72-41BB-839B-4350C70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505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D5A4F-0980-4FE4-A739-FD8FCF3B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机器预审事实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6EFF7-2682-4599-86F3-CEDCB50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13660"/>
            <a:ext cx="76200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752F1-16F8-4D5B-BC19-AD65593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696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171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A2BC1-1F00-4FD3-9AF3-183B04D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2Pr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71313-BE3A-4684-A59A-24F4E825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8460"/>
            <a:ext cx="762000" cy="2301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7687F-ED07-4787-B10D-ACCBC7F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5176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3A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3A9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0A90E-B6FD-4CC6-B864-475CCFD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91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endurance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8AC08-FB22-4806-96F0-58D87ADC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71900"/>
            <a:ext cx="762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75FA3-C792-41CE-A024-CC61094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39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3902F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77479-37A6-4C62-ACAA-8F1A5D0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91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E8FEE-1827-44FD-A9D6-982E3564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2940"/>
            <a:ext cx="762000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4C751-631B-4163-AC50-6A6CD79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0624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B4B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1912A-0641-402F-9BF4-A3350CE0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91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8235D-CDCF-4658-B172-ABC35A5E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5340"/>
            <a:ext cx="7620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9CECD-8F42-4EE0-8155-F4A33A5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5864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CB070-794B-46F3-A3BF-7B23807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91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memory window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89D21-9098-4123-8C34-8ADCF68E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4B4B"/>
                </a:solidFill>
                <a:latin typeface="Aptos"/>
                <a:ea typeface="Aptos"/>
                <a:cs typeface="Aptos"/>
              </a:rPr>
              <a:t>注意：当前机器预审事实不等于最终论文结论；publication_ready = false。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E14AD-16D3-4737-BBB4-8A8023C2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9EE879-F83B-455D-BE8B-D070A28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CF59E2-49C4-48A9-B9ED-310EDD4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80987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99FB5-C642-4DFE-BE66-AAD7446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05F45-B860-4FCF-832C-A08311CC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A0224-08BA-4848-991C-A9D0ECE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下一步方法优化：从可运行走向可发表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81CEB-B87B-4207-9C0E-82B0419D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57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7996-EFFE-4D89-93EE-4042156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906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DOI 级融合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B3A75-A925-4E40-9D53-38119B6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解决同一论文多版本 PDF、综述引用与原始数据混用的问题。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ECC40-D365-4DAA-ABE6-B87224A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D375A-CF37-445E-8D92-6E3F91C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表格缓存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B23E7-F794-4A1D-8B0E-DB60135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把已验证表头/列类型作为记忆，提升表格事实抽取稳定性。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D9EAB-4BC3-49F1-BBEC-0426374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9DA09-8767-489E-91D5-5DAD011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GraphRAG 社区摘要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4D9FF-8DAC-4302-AC7A-870E8D72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围绕 HZO、La:HfO2、TiN、电极、Pca21、wake-up/fatigue 形成趋势摘要。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73192-D8A7-48B9-83F9-8C04DDF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4DD34-B37D-4D31-9C98-CB86F0D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主动学习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E3B93-8112-4348-812D-06602A7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把人工修改转为 few-shot、规则修正和 gold set。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FF33C-F33D-4F3A-B7FF-86CFFAD0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27E62-2DCB-4BA9-B516-E1ADAA29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论文级评估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EB70A-3AC2-49F4-905F-764097B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用 20-30 篇标注集报告实体/关系 Precision、Recall、F1。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5B8B3-5EB3-4146-8E48-D48C8FFC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859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C2867-EC45-4B18-B6A3-AAEEA6F8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论文主线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65199-AB15-4605-B918-DC4BE41D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面向 HfO2 基铁电材料的可扩展、证据可追溯知识图谱构建与材料-工艺-性能关系挖掘。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C4500-6C4A-4504-8DE6-3F3E2BC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A36A2-BC02-41CC-85DC-2B9D767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581ED-AF53-48F2-A3D9-D50C732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64414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A2070-D506-4ED6-A9F8-1942BD1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23615-D9CD-4433-B510-8BE1289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82215-97FE-419F-9E3D-1175DC98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本周交付物与可展示内容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88146-E19C-497A-917F-65031B2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A7099-3595-4D38-B509-468D7F5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C2757-200B-4552-834E-4A6048B7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工作台页面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174E4-CD0D-4C34-840D-214B4B60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本体构建、PDF 入库、解析、抽取、审核、图谱、RAG、看板、原文预览、文献补充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3A36-D901-4672-93CF-FC1F20C1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35761-FBBB-4DD5-85E5-551875B6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907A7-19E9-4562-9C2B-0431F42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方法文档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970A5-A184-4F2F-A972-B674989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kg_method_blueprint.yaml、research_positioning.md、kg_method_upgrade_report.md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F1F43-2E35-4E9E-944E-D603448B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AF5A6-15E3-4608-B425-EC0DF129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02F"/>
          </a:solidFill>
          <a:ln xmlns:a="http://schemas.openxmlformats.org/drawingml/2006/main" w="0">
            <a:solidFill>
              <a:srgbClr val="D390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699B5-9882-4836-8B8A-0D53448B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持续接入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5C119-0C34-40CA-AB20-564D3699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开放文献候选、开放 PDF 下载、增量处理流水线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10F5-400A-4BD7-BBAC-214397A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95B61-1C12-41E7-A468-82ACC14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0668F-276C-4543-A58A-726D244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质量门槛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0A48C-6E24-445D-9018-CFB938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证据完整性、页码/chunk 追踪、异常值、人工审核状态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0CE8D-3A8D-4A63-AB4D-8EEEFE4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下一次汇报可以重点展示：点开一条 2Pr 事实，从图谱节点追溯到 PDF 页码和证据句。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54278-09BB-4DD3-A26F-D876F5E4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D96D1-65E4-4BCD-9494-4FDFA847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2A30-6C33-4BDA-AAD6-498A0E9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69866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7628A-333B-44CA-9E16-593B9AC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F7F8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EF99D-0F15-4DB7-833A-84A1576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HfO2-FerroKG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08B0D-D34F-46EA-A251-454989C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参考方法来源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67483-5C1D-4A5C-95C6-557D36D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52671-A282-4E9B-8155-2BC42EF9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5257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MatKG, Scientific Data 2024: 自动材料文献知识图谱。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99D27-C361-4CDD-9DFF-EF638A2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44FA-52A7-45EC-9C77-58535071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GraphRAG, arXiv 2024: 图索引与社区摘要用于全库问答。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D2011-A790-48FB-B6A8-B2CAAE83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E28BA-32D4-45C7-AB86-DF0FF98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LLM-empowered KG construction survey, 2025: 本体、抽取、融合三层范式。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26C77-F66E-4E91-9508-67E15EE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BBDA2-0514-465C-B355-6214324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Nature Communications 2024: 科学文本结构化信息抽取。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39B44-CC00-44BE-96D9-8858C2B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AAA70-9AE4-4AE9-8A12-CEBFA06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Digital Discovery 2025 / MatSKRAFT 2025: 材料表格知识抽取。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0F1AC-A5E5-4F4E-839E-78DAD555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8C831-1397-4983-B006-2E02EA0E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OpenAI Structured Outputs / Embeddings: schema 约束和语义检索基础。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70102-DE31-4352-97FC-A194F3B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完整链接和方法说明见 reports/HfO2-FerroKG_方法升级与进展报告.md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8383D-B64B-4568-A412-AE7A3D4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2"/>
          </a:solidFill>
          <a:ln xmlns:a="http://schemas.openxmlformats.org/drawingml/2006/main" w="0">
            <a:solidFill>
              <a:srgbClr val="D8DD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CC9D2-A830-481E-BA0B-9DE5EADE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氧化铪基铁电材料知识图谱工作台 | 方法升级进展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ECF0A-F051-40EE-9BAF-7205B05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15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1595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2026-05-20T19:16:43.7480000Z</dcterms:created>
  <dcterms:modified xsi:type="dcterms:W3CDTF">2026-05-20T19:16:43.7480000Z</dcterms:modified>
</coreProperties>
</file>