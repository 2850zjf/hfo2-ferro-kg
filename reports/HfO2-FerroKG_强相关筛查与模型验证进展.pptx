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44fed15064423f" /><Relationship Type="http://schemas.openxmlformats.org/officeDocument/2006/relationships/extended-properties" Target="/docProps/app.xml" Id="R23970b4a522d4d2a" /><Relationship Type="http://schemas.openxmlformats.org/officeDocument/2006/relationships/officeDocument" Target="/ppt/presentation.xml" Id="Re89e10871a844d5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e41ecaabae4f63"/>
  </p:sldMasterIdLst>
  <p:notesMasterIdLst>
    <p:notesMasterId xmlns:r="http://schemas.openxmlformats.org/officeDocument/2006/relationships" r:id="R245ad630812f45a6"/>
  </p:notesMasterIdLst>
  <p:sldIdLst>
    <p:sldId xmlns:r="http://schemas.openxmlformats.org/officeDocument/2006/relationships" id="256" r:id="R16dbf6f3c0de402b"/>
    <p:sldId xmlns:r="http://schemas.openxmlformats.org/officeDocument/2006/relationships" id="257" r:id="R44e6c1df780345ce"/>
    <p:sldId xmlns:r="http://schemas.openxmlformats.org/officeDocument/2006/relationships" id="258" r:id="R0bf9dbaaa3834b3a"/>
    <p:sldId xmlns:r="http://schemas.openxmlformats.org/officeDocument/2006/relationships" id="259" r:id="Rd599e6f6df2444b3"/>
    <p:sldId xmlns:r="http://schemas.openxmlformats.org/officeDocument/2006/relationships" id="260" r:id="R8ec59414775c4e5f"/>
    <p:sldId xmlns:r="http://schemas.openxmlformats.org/officeDocument/2006/relationships" id="261" r:id="R02ec99f47396455a"/>
    <p:sldId xmlns:r="http://schemas.openxmlformats.org/officeDocument/2006/relationships" id="262" r:id="R16c601b7a5184067"/>
    <p:sldId xmlns:r="http://schemas.openxmlformats.org/officeDocument/2006/relationships" id="263" r:id="R3e98e5dc4f374bcd"/>
    <p:sldId xmlns:r="http://schemas.openxmlformats.org/officeDocument/2006/relationships" id="264" r:id="R09acec97d6f6475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1d8aca0fa14899" /><Relationship Type="http://schemas.openxmlformats.org/officeDocument/2006/relationships/slideMaster" Target="/ppt/slideMasters/slideMaster1.xml" Id="R8ce41ecaabae4f63" /><Relationship Type="http://schemas.openxmlformats.org/officeDocument/2006/relationships/notesMaster" Target="/ppt/notesMasters/notesMaster1.xml" Id="R245ad630812f45a6" /><Relationship Type="http://schemas.openxmlformats.org/officeDocument/2006/relationships/presProps" Target="/ppt/presProps.xml" Id="Rcc277d9630d8455b" /><Relationship Type="http://schemas.openxmlformats.org/officeDocument/2006/relationships/viewProps" Target="/ppt/viewProps.xml" Id="Rf7dccc4fc5e4449a" /><Relationship Type="http://schemas.openxmlformats.org/officeDocument/2006/relationships/tableStyles" Target="/ppt/tableStyles.xml" Id="R0bcf8f63a05243ab" /><Relationship Type="http://schemas.openxmlformats.org/officeDocument/2006/relationships/slide" Target="/ppt/slides/slide1.xml" Id="R16dbf6f3c0de402b" /><Relationship Type="http://schemas.openxmlformats.org/officeDocument/2006/relationships/slide" Target="/ppt/slides/slide2.xml" Id="R44e6c1df780345ce" /><Relationship Type="http://schemas.openxmlformats.org/officeDocument/2006/relationships/slide" Target="/ppt/slides/slide3.xml" Id="R0bf9dbaaa3834b3a" /><Relationship Type="http://schemas.openxmlformats.org/officeDocument/2006/relationships/slide" Target="/ppt/slides/slide4.xml" Id="Rd599e6f6df2444b3" /><Relationship Type="http://schemas.openxmlformats.org/officeDocument/2006/relationships/slide" Target="/ppt/slides/slide5.xml" Id="R8ec59414775c4e5f" /><Relationship Type="http://schemas.openxmlformats.org/officeDocument/2006/relationships/slide" Target="/ppt/slides/slide6.xml" Id="R02ec99f47396455a" /><Relationship Type="http://schemas.openxmlformats.org/officeDocument/2006/relationships/slide" Target="/ppt/slides/slide7.xml" Id="R16c601b7a5184067" /><Relationship Type="http://schemas.openxmlformats.org/officeDocument/2006/relationships/slide" Target="/ppt/slides/slide8.xml" Id="R3e98e5dc4f374bcd" /><Relationship Type="http://schemas.openxmlformats.org/officeDocument/2006/relationships/slide" Target="/ppt/slides/slide9.xml" Id="R09acec97d6f647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e9ce7d0fae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47d20c18e241d3" /><Relationship Type="http://schemas.openxmlformats.org/officeDocument/2006/relationships/notesMaster" Target="/ppt/notesMasters/notesMaster1.xml" Id="R8888fce12b6d42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cc74dd2164341db" /><Relationship Type="http://schemas.openxmlformats.org/officeDocument/2006/relationships/notesMaster" Target="/ppt/notesMasters/notesMaster1.xml" Id="R6fcad8aed0bd46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4709a9ab9b4039" /><Relationship Type="http://schemas.openxmlformats.org/officeDocument/2006/relationships/notesMaster" Target="/ppt/notesMasters/notesMaster1.xml" Id="R907724a4ec1143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d5e9f03e1746e6" /><Relationship Type="http://schemas.openxmlformats.org/officeDocument/2006/relationships/notesMaster" Target="/ppt/notesMasters/notesMaster1.xml" Id="R3af89e2a972c42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13f0b6a76247e3" /><Relationship Type="http://schemas.openxmlformats.org/officeDocument/2006/relationships/notesMaster" Target="/ppt/notesMasters/notesMaster1.xml" Id="Rd8142afdb4154c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7f07d421684c39" /><Relationship Type="http://schemas.openxmlformats.org/officeDocument/2006/relationships/notesMaster" Target="/ppt/notesMasters/notesMaster1.xml" Id="Rebd4b0c26eee46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674e1e719db463c" /><Relationship Type="http://schemas.openxmlformats.org/officeDocument/2006/relationships/notesMaster" Target="/ppt/notesMasters/notesMaster1.xml" Id="Rde4a6861183e41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20ecf2696c4561" /><Relationship Type="http://schemas.openxmlformats.org/officeDocument/2006/relationships/notesMaster" Target="/ppt/notesMasters/notesMaster1.xml" Id="R2f4f6b7bd49141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85e385a98f4f95" /><Relationship Type="http://schemas.openxmlformats.org/officeDocument/2006/relationships/notesMaster" Target="/ppt/notesMasters/notesMaster1.xml" Id="R8fbe670bcc524f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cff0fc914404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e34ec1bdcf4f02" /><Relationship Type="http://schemas.openxmlformats.org/officeDocument/2006/relationships/slideLayout" Target="/ppt/slideLayouts/slideLayout1.xml" Id="R6691c79409094f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91c79409094f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4c96fc1bdf433a" /><Relationship Type="http://schemas.openxmlformats.org/officeDocument/2006/relationships/notesSlide" Target="/ppt/notesSlides/notesSlide1.xml" Id="R7334b39021b4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1d60890de749aa" /><Relationship Type="http://schemas.openxmlformats.org/officeDocument/2006/relationships/notesSlide" Target="/ppt/notesSlides/notesSlide2.xml" Id="R3f010fb699644f2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efdd9b604440f" /><Relationship Type="http://schemas.openxmlformats.org/officeDocument/2006/relationships/notesSlide" Target="/ppt/notesSlides/notesSlide3.xml" Id="R6e6cd5640e1d429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38c80ab97f4c74" /><Relationship Type="http://schemas.openxmlformats.org/officeDocument/2006/relationships/notesSlide" Target="/ppt/notesSlides/notesSlide4.xml" Id="Rd1cde858531b46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97cc3e745434f" /><Relationship Type="http://schemas.openxmlformats.org/officeDocument/2006/relationships/notesSlide" Target="/ppt/notesSlides/notesSlide5.xml" Id="R45a81bfd41ad411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21fbfca79c4749" /><Relationship Type="http://schemas.openxmlformats.org/officeDocument/2006/relationships/notesSlide" Target="/ppt/notesSlides/notesSlide6.xml" Id="R5932276fd68c42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74faba4d94e36" /><Relationship Type="http://schemas.openxmlformats.org/officeDocument/2006/relationships/notesSlide" Target="/ppt/notesSlides/notesSlide7.xml" Id="Rc67c7a404a0849f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396c627a34b12" /><Relationship Type="http://schemas.openxmlformats.org/officeDocument/2006/relationships/notesSlide" Target="/ppt/notesSlides/notesSlide8.xml" Id="R9b5a8bc40ad24fb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f6ec4b0d0411b" /><Relationship Type="http://schemas.openxmlformats.org/officeDocument/2006/relationships/notesSlide" Target="/ppt/notesSlides/notesSlide9.xml" Id="R2cc7799ec63e4e8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436A50-64EC-4BB4-B1B8-95E06C4D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B68F4-6F6D-4C37-AA5E-DBFFC60D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8ADBF-C076-45A1-999D-06D22AAD3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EF734-83D7-4886-9570-86FE63A0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810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HfO2-FerroKG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2C90C-0988-4416-BF55-1B4C242C2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668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 Benchmark 与模型验证进展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9301A-8F7E-4527-9AA0-8B0D2EC8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面向工艺优化与材料设计的证据可追溯知识图谱原型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674D9-5791-4456-83C0-A956229E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742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12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本轮更新：非破坏性筛掉弱相关信息，保留强相关样品级 Pr/2Pr 数据；用多个通用回归模型按训练集/验证集评估；建立强相关文章全量重抽取队列。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926B1-78FB-4D25-8335-BA86309E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620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CEDFCD-D28A-4BA4-A3DC-C8FFF01B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620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D13231-4DAF-4FE3-8698-F0E23514A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85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强相关建模行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653C3A-0A13-4966-83F8-2E23E192F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4668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362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984C7-9EA8-44B7-8D5B-3348CBD0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2402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Pr / 2Pr strong_only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D04282-6E52-4BDA-B354-DD19C9BC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DFC283-B924-4FEF-9D27-51BED5BA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955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8F0E6-F61F-4090-9DDE-F34E0F68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193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强相关论文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1AB54C-0626-47AC-8186-1343E5FD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003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3A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63A9"/>
                </a:solidFill>
                <a:latin typeface="Arial"/>
                <a:ea typeface="Arial"/>
                <a:cs typeface="Arial"/>
              </a:rPr>
              <a:t>136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C9D361-4517-49FA-8AD1-EB645A80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65747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paper queue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13B29-9A18-4116-A991-243745FE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14441-4AF0-4F3B-B7D7-C4138AE7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289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54B485-3944-48B3-82B7-BA47B683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1527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重抽取 chunks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65797D-6CDE-458E-8E90-E6E1AF44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84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842F"/>
                </a:solidFill>
                <a:latin typeface="Arial"/>
                <a:ea typeface="Arial"/>
                <a:cs typeface="Arial"/>
              </a:rPr>
              <a:t>4,169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D31979-05D0-4D29-A4A8-D9289F138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59092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dry run 0 error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E11FF4-1491-4BCA-8065-79929EFA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2095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E45A53-B842-4820-95EF-1E4EAA89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624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F40287-C13C-48E4-87B0-3F31FCE5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862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验证集模型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59CA3C-5FFA-4538-986D-04275CF2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672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C5E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C5EA8"/>
                </a:solidFill>
                <a:latin typeface="Arial"/>
                <a:ea typeface="Arial"/>
                <a:cs typeface="Arial"/>
              </a:rPr>
              <a:t>6 x 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F94964-433B-4F35-BD8C-8E53700D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52437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6 models, 2 targets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BC7EF8-1CFB-4922-B412-5109787A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99FBB9-53C7-48A9-B9A2-C9824587B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2026-06-04 | 本地实验结果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DFBC53-2B8D-4634-BCCB-3B539C8F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40712627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8B9692-3D3C-4A79-BC91-20206A5F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934F9-001B-442F-B44A-FACC8FC0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DF5C4-8CEE-4803-88CF-19272F85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当前数据底座：主库已跑通，论文原型改为强相关主线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7F8E90-1141-434F-AD7D-727CDC96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847470-7F2C-48EC-A4BF-28CED6F4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668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2BA00B-9C81-4469-89B1-ECA990EB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906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PDF 记录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46C086-8CC3-4300-925E-D3E720D8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716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584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349373-052D-4C3E-B9D5-C4AF93299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288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local corpus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E5EAB-F13E-41D9-9C89-1EE31562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668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6E0EDC-4F5C-46A9-A738-BA87E950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4668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745AA1-5C9F-43F4-AB0C-1ADFC9675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906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解析页数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15B1C3-6078-495D-836B-44A0DB31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716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3A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63A9"/>
                </a:solidFill>
                <a:latin typeface="Arial"/>
                <a:ea typeface="Arial"/>
                <a:cs typeface="Arial"/>
              </a:rPr>
              <a:t>8,595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D0BC6-4F63-46E4-B6C9-32FCE6FD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288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page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66BF08-E139-4680-B8C4-47418B2C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668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0CA8F-94E9-48FB-8FE5-6FB9054B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668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2FC5CE-E1A8-4A80-A683-CEAD81EB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5906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文档 chunks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7273-3841-46C2-BB80-9FFACA67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84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842F"/>
                </a:solidFill>
                <a:latin typeface="Arial"/>
                <a:ea typeface="Arial"/>
                <a:cs typeface="Arial"/>
              </a:rPr>
              <a:t>22,526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12CA2F-8D06-4FE5-A7FC-C2FE7DB2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288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chunk corpus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B0C4C9-923D-497D-AA24-6C8BC494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EEBAD6-20AC-4597-A214-29AB0E2D2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4668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EF8CA-45AC-46E4-B9CE-D5F7B067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906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reviewed facts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D2A05-60C6-43D7-A4B1-8ED4FCFB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716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C5E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C5EA8"/>
                </a:solidFill>
                <a:latin typeface="Arial"/>
                <a:ea typeface="Arial"/>
                <a:cs typeface="Arial"/>
              </a:rPr>
              <a:t>4,153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73F8B2-2EB0-4B49-9D1F-DB8CF9D5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28825"/>
            <a:ext cx="133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upstream facts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006F18-11CC-4240-BF15-5BBADA952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9A361C-5F4F-4ED7-A698-7CC0DFB1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4668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2D63D4-E144-4E78-9008-3B8A050F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5906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样品级关联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F2D4BE-17E0-4ABA-8E93-4AF85C54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716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4B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54B4B"/>
                </a:solidFill>
                <a:latin typeface="Arial"/>
                <a:ea typeface="Arial"/>
                <a:cs typeface="Arial"/>
              </a:rPr>
              <a:t>20,633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68DDD9-BB40-4B88-84FB-FEDDEB49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28825"/>
            <a:ext cx="1524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8A98A3"/>
                </a:solidFill>
                <a:latin typeface="Arial"/>
                <a:ea typeface="Arial"/>
                <a:cs typeface="Arial"/>
              </a:defRPr>
            </a:pPr>
            <a:r>
              <a:rPr sz="615" b="0">
                <a:solidFill>
                  <a:srgbClr val="8A98A3"/>
                </a:solidFill>
                <a:latin typeface="Arial"/>
                <a:ea typeface="Arial"/>
                <a:cs typeface="Arial"/>
              </a:rPr>
              <a:t>sample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F09F14-BB1B-4ED3-AA3F-894B71F5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857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9E6398-169D-4851-A22E-5A4023DD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5FD62D9-1593-4F57-9D42-3039737BD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0515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论文主数据表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4B454A-CEDB-418D-AC0F-E3DD53DF5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09950"/>
            <a:ext cx="4514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以 sample_property_links 为主线，reviewed_facts 和 benchmark_extractions 作为上游来源；所有正式模型结果优先使用 sample-level strong rows。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23FED4-22AB-4B8B-B95D-DB7EFD43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48577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9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3A1901-C407-4AA2-A37B-25D0BF77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52750"/>
            <a:ext cx="571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5A2EAF-AC54-4F20-BD7C-4DFD2410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05150"/>
            <a:ext cx="4514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为什么要筛掉弱相关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7B224-5FAF-45BB-BADA-E70F6C617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09950"/>
            <a:ext cx="45148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全量数据适合 KG/RAG，但不适合直接训练。综述转述、弱上下文、非主目标、缺页码证据和 AI 审核拒绝项会拉低 benchmark 可信度。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8A89F8-E296-4B27-8A92-9915C0F4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BC05E0-6534-46FE-8D21-5F015DE8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原始数据不删除，只生成强相关 slice；弱相关信息继续保留给 RAG、人工复核和后续扩展。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A0DA91-9303-4551-9A7E-97806583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044E810-F853-4386-B8D2-E98C3B73C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530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Pr 与 2Pr 是第一版性能目标，其他性能先作为 KG 和补充结果。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58F2F9-B860-42F6-BF84-040E81056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78911FC-1ADD-453C-98B7-D699AA011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F70440-8075-48AA-84B4-2A77274B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67744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B9DE0F-7DEB-474D-83BE-8CD91AECE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FEDA2A-D963-4C7F-9F77-7A5343A76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32D665-114D-4948-830B-1B2B65CB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本体规划：以 ThinFilmSample 作为材料设计的中心节点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C2582-79E6-492E-A07C-EB5106AF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433D4-2A9A-4BC6-991D-6CC8BF1A8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Paper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3C0B6A-796A-46A4-B9EA-6BB9D0E9B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812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219AA-C014-4EE5-ADDC-22ADDC48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24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1B79B-C4B3-4C4C-A3AB-CDFD0D65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57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3A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92EEB7-5A1D-4888-AA5A-8463130A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860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563A9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563A9"/>
                </a:solidFill>
                <a:latin typeface="Arial"/>
                <a:ea typeface="Arial"/>
                <a:cs typeface="Arial"/>
              </a:rPr>
              <a:t>PDF/Chunk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0286D-AC5E-4249-BDD0-66D28AC3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62030A-CCB0-4DE7-B6FE-B490CBDA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24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0BF398-7229-4B2D-B3D0-F8436180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842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58CD1E-4320-4C49-AA59-D1969ADF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860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C8842F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C8842F"/>
                </a:solidFill>
                <a:latin typeface="Arial"/>
                <a:ea typeface="Arial"/>
                <a:cs typeface="Arial"/>
              </a:rPr>
              <a:t>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4A0FB-B94B-4BC4-AEA1-3FA98672C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812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E35C8-114D-4D04-B0A7-074453E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24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01381-011A-41C8-86BA-D1906C6F4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57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4"/>
          </a:solidFill>
          <a:ln xmlns:a="http://schemas.openxmlformats.org/drawingml/2006/main" w="9525">
            <a:solidFill>
              <a:srgbClr val="6C5E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944EF-0DDB-406F-94FD-338C65E7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860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C5EA8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6C5EA8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DCB858-275A-4B56-9CC3-621AB8F7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9EE2D-9054-4944-AD49-411A368A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24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AADDFB-1C2D-435F-B9F3-7C434DF6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57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F566ED-41DA-4C45-8953-E85713B7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Process/Phase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49AD42-9DCA-4228-836D-444E37C0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ECAD1E-C072-40F7-BDC0-B98D32E2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24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4A38B7-1FCC-4E51-B2F1-2AAC78FE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57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4B4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9B3A9D-6058-4707-9E33-52543357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860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54B4B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B54B4B"/>
                </a:solidFill>
                <a:latin typeface="Arial"/>
                <a:ea typeface="Arial"/>
                <a:cs typeface="Arial"/>
              </a:rPr>
              <a:t>Property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6A6D35-E4D3-4FB7-991E-48B46F6D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3812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8B09D-A6B9-4503-9C20-12457D1D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324100"/>
            <a:ext cx="95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82E067-871E-4EC9-B9BC-3221AD02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57400"/>
            <a:ext cx="1200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3A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CEAAD3-7B7D-417F-8686-4B27167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86000"/>
            <a:ext cx="1009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3563A9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3563A9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A7F08C-EF9D-4C0B-9053-4E4A742A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4629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758E1D-9626-43D0-804D-985643B8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FA70FA-7AD4-4A6B-96A2-A78604A0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766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核心字段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66A4CE-3BC6-4A84-9D55-2C761E12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材料体系、Zr fraction / dopants、厚度、沉积、退火温度/时间/气氛、电极 stack、相结构、器件类型、Pr/2Pr 与证据页码。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2EEE95-D314-4087-A719-661D055F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4629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DF1924-55DC-462B-BABF-30D5FCCBB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571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D37F44-DD68-4B5C-A49E-644420170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766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关键约束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753C7E9-3640-484D-A753-7EFCE655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81450"/>
            <a:ext cx="428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Pr 与 2Pr 不合并；所有模型目标使用 normalized value/unit；没有 page/chunk/evidence 的事实不能进入正式 benchmark。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308A5B9-3EF6-4629-952C-1D8531AB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6AAAB9-4049-4931-9131-F8F0AE94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8C9A7C-B7F9-4596-A2E9-DE70F7C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3172299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6363C9-8369-425A-BFB6-322E4111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BBA7E-9F99-4335-B597-3364C0A2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5B7D1-57AB-42D5-9E9C-776A7D0ED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Benchmark 分层：论文结果优先报告 strong_only 与 strong_partial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A894FC-6D19-4ED3-896F-7F6FE532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171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7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228A91-2999-485A-B113-B8C877E8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7640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Tier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0E24BC-6AF3-42F5-AD03-3132F3F1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581150"/>
            <a:ext cx="619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7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CCC8E-0F5E-4D07-9938-4D200344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676400"/>
            <a:ext cx="601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定义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026AD6-4880-4298-A2FA-73FF9BC2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81150"/>
            <a:ext cx="2476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7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FBA12D-FB0C-4AC5-AB9C-188D530E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676400"/>
            <a:ext cx="2305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用途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F2E96C-6CE1-4933-8B12-E39AFB8E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812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0609BF-C4E8-47B3-A0D3-83FF68BA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strong_only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E788A5-22F0-44CB-9871-6AC5BB83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8120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82F204-276A-4F54-A5F1-6380D7FAF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076450"/>
            <a:ext cx="601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样品级 strong context，证据可追溯，归一化有效，AI 未拒绝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6401E-563B-442E-BABC-B178D930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812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4BD9D5-27AF-4E39-87C8-665648C88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0764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主结果 / 训练验证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62CB8-4C16-427C-9065-217DBD5F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B31E18-C5B3-4B2F-A7AA-7CFFD1C74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strong_partial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2B3674-41BA-42CF-887B-B463F540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38125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C16D55-5714-4149-9DFB-E0065B657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76500"/>
            <a:ext cx="601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strong 或 partial traceable rows，未被 AI reject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9CE37F-1ED2-43AC-B0AE-F7297C9C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3812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2DB109-6A6C-4862-B8BD-122FAE71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47650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敏感性分析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B7CD27-9B05-4FE2-8184-307F0555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71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ACA485-324C-4A28-8EF5-25583CF4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7655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all_traceable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F317D0-B3DA-447D-B424-95545301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781300"/>
            <a:ext cx="619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20E4E9-2478-466D-8FB0-280169FD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876550"/>
            <a:ext cx="601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有 paper/page/chunk/evidence 且可归一化的全可追溯行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548361-FBD2-405D-9363-2004049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9CF26A-397C-4E5F-94D3-28A1A1C0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76550"/>
            <a:ext cx="2305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补充结果 / RAG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8F41CA-C526-4192-A990-765F1B1B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56103F-D24F-4B7F-89F4-DE9062A39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5AEECC-E1EB-425A-BB06-48FD9417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385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全量 design dataset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760CE3-BB4C-45C8-B04D-D4E2BCD8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9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12,297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3AD208B-4A92-4A39-9285-F295DCD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537738-9BA4-4940-B1E2-E6247A5E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352626-CFA4-4B05-9CE3-48349415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3857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strong_only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E7A2B9-A69C-4763-A5ED-C3899186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955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3A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63A9"/>
                </a:solidFill>
                <a:latin typeface="Arial"/>
                <a:ea typeface="Arial"/>
                <a:cs typeface="Arial"/>
              </a:rPr>
              <a:t>992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DCEF13-862E-430C-9FC0-8B4FC10F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E26D0E0-AFBF-4A04-B896-55358213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56743D-A242-43B5-81C0-FDAF5C4B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3857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strong_partial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5CE3598-0D86-4DC6-A62A-DFDB5B0EE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1955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84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842F"/>
                </a:solidFill>
                <a:latin typeface="Arial"/>
                <a:ea typeface="Arial"/>
                <a:cs typeface="Arial"/>
              </a:rPr>
              <a:t>4,731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55BC66E-64D8-493B-BE6E-AC441660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14750"/>
            <a:ext cx="1905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B5FE23-D4F0-4CEE-B93D-C79CEF8D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1475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F5E8903-4894-4B90-86E4-A1FFFBCB6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38575"/>
            <a:ext cx="1619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all_traceable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43AFB25-F101-4F9E-936D-95832B51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95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C5E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C5EA8"/>
                </a:solidFill>
                <a:latin typeface="Arial"/>
                <a:ea typeface="Arial"/>
                <a:cs typeface="Arial"/>
              </a:rPr>
              <a:t>12,168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2EF2A35-52CB-401E-8D69-623DC7B3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435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本轮新增强相关 slice：在 strong_only 中进一步限定样品级、Pr/2Pr、AI 未拒绝、model_include=1，得到 362 行用于本轮模型验证。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9B4571B-64B1-49D5-AA9A-319114DD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8EC51C-8184-4D19-B0E7-B1B63C8B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D9C86EB-C824-4266-B56C-68704C8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617875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C2C740-B49A-4565-8915-4F7AAD6BA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88D91-7881-43F3-A6F0-D9D7B23E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BF2345-A81F-4566-99CE-62AC72FA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强相关筛查：非破坏性排除弱相关信息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86A7B-51A8-4D4E-BA68-C4A98BEA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1714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00F474-EC79-4348-B585-9602B27C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985FB-1659-4F3D-82E0-40604E5C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输入行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D5960-7DBC-4974-9B63-949A527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142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12,297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7FEC6-0533-4149-8F26-3A2EF686E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4780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F60702-FDD0-401C-9AC7-F2771C8DA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4478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97ACB-E148-4000-9FB9-CFA4C3FB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5716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保留行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3C5F2-448A-4693-B789-C40A8145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5260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3A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63A9"/>
                </a:solidFill>
                <a:latin typeface="Arial"/>
                <a:ea typeface="Arial"/>
                <a:cs typeface="Arial"/>
              </a:rPr>
              <a:t>362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18CF29-9871-4704-B859-EB79281DB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478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2FA18A-8CAA-490E-97A5-292E09F0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4478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7909FA-BABF-441C-9953-56D57D26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5716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移除行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39344-9349-47CD-8DE2-0A608186E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526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54B4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54B4B"/>
                </a:solidFill>
                <a:latin typeface="Arial"/>
                <a:ea typeface="Arial"/>
                <a:cs typeface="Arial"/>
              </a:rPr>
              <a:t>11,935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6F9D2-4D0B-41A9-8FBD-CC15BE02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78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27E529-0C94-4992-A4F3-CA9BF515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78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E79F67-A0E1-455D-AD49-673451E7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5716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Pr / 2Pr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0CFEA-2CF6-44D6-A3E0-2D6145AF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526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C5E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C5EA8"/>
                </a:solidFill>
                <a:latin typeface="Arial"/>
                <a:ea typeface="Arial"/>
                <a:cs typeface="Arial"/>
              </a:rPr>
              <a:t>219 / 143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DE5F02-A6D4-4CCF-9376-379BF65D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47800"/>
            <a:ext cx="200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C618FB-ED4C-4D68-847C-6F8D6697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4478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65F069-AB91-43A4-8653-216D65FD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5716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论文 / chunks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A6F2F7-DEEF-435E-AD7A-01D33638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75260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84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842F"/>
                </a:solidFill>
                <a:latin typeface="Arial"/>
                <a:ea typeface="Arial"/>
                <a:cs typeface="Arial"/>
              </a:rPr>
              <a:t>136 / 251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C2DF59-D495-402F-9D70-9B2B2845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非主目标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D05DE5-98D8-4766-9A92-EBE24620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3905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8"/>
          </a:solidFill>
          <a:ln xmlns:a="http://schemas.openxmlformats.org/drawingml/2006/main" w="0">
            <a:solidFill>
              <a:srgbClr val="EBEF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3EB1A9-9855-432C-8FD5-C023790A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86100"/>
            <a:ext cx="308844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A709FEF-5080-4694-ACE6-50A5B4C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384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9725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E82BF1-0AAD-4C9C-AEF3-C063FB701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非 selected tier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525E6F-2305-4B7C-8AFD-F0BCE87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3905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8"/>
          </a:solidFill>
          <a:ln xmlns:a="http://schemas.openxmlformats.org/drawingml/2006/main" w="0">
            <a:solidFill>
              <a:srgbClr val="EBEF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2950DC-1265-4257-8A4E-E23F41A84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467100"/>
            <a:ext cx="3590213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6F989B-71F5-4E15-8917-BFD4E3D5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194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11305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6C2F03-DD52-446A-9833-3A774235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不可建模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63ECB3-5E5E-4C5C-B7A4-C244DAFF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48100"/>
            <a:ext cx="3905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8"/>
          </a:solidFill>
          <a:ln xmlns:a="http://schemas.openxmlformats.org/drawingml/2006/main" w="0">
            <a:solidFill>
              <a:srgbClr val="EBEF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DC521F-94B3-40E7-98D3-7CF6B3C41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48100"/>
            <a:ext cx="119949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EA1C5F-B9F8-46F6-A16E-25161136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004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3777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6D10FB9-8E08-439C-8DB9-F7E0B23C3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91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非样品级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33ED947-C547-4557-81A0-76AC9781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39052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EFE8"/>
          </a:solidFill>
          <a:ln xmlns:a="http://schemas.openxmlformats.org/drawingml/2006/main" w="0">
            <a:solidFill>
              <a:srgbClr val="EBEF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78989FD-D48D-4B04-B133-C15C5C03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29100"/>
            <a:ext cx="2094741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42CB93-EF90-4B49-B3C5-A4EA0B18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814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788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6596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1438FF9-6A39-4DFB-8DFF-EBE61148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35242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AD3412-A44A-4454-A338-4A6E07FC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48000"/>
            <a:ext cx="571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247E08-3C77-472B-8188-6D580A84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0040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筛查依据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268AF13-586A-493F-896A-DA535DFA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31813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sample-level link、benchmark tier、page/chunk/evidence、model_include、AI audit status。弱相关行不从数据库删除，只从训练/验证集排除。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E7EF53-924E-434C-8CBA-108D7649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35242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7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F9846A-6A9E-46DD-8A77-37866BAA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43450"/>
            <a:ext cx="57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718591-AA7E-4693-B7FE-D6C97838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95850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输出文件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197A17-E487-489D-A9E7-CDE6DA51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00650"/>
            <a:ext cx="31813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data/design/hfo2_design_dataset_strong_relevant.csv</a:t>
            </a:r>
          </a:p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models/model_comparison/strong_relevant_model_comparison.md</a:t>
            </a:r>
          </a:p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data/extraction_queues/strong_relevant_papers.csv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D6CC85-BDF0-4C7C-9D2C-6AFAC128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985FCE5-5489-480C-AA70-A54ACE4F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EEEBD81-6D83-4384-890C-EAA78399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38500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BA71B-B10A-4E3E-A1E1-CBC232033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EFBFB-EAE2-4442-BBC6-6937D1A0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2078F-CC4A-4A25-A340-8C065B67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模型评估：指标只看验证集，不看训练集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9D42C6-8888-4AD3-B9C8-22EC2B6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9EF53-FC86-4FD1-8532-E5049C8B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BE0B1-C89C-44DC-8B49-0D3EA491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581150"/>
            <a:ext cx="152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4EB7DC-D0C0-49A1-960A-733319AC0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676400"/>
            <a:ext cx="1352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Best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FAFA7-0FA4-419B-A1DA-EF021F4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5811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F57943-E607-44CD-A619-2580817C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6764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1C19B-A48A-4B71-B8D3-9426F5E8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5811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38D56-9626-42E1-9C39-E8437026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764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2B229-A27B-4860-8033-1A1E8AAC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5811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52458-3441-473E-BFDA-D9B0C1E4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764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BECBBB-A197-4A46-A357-955A63A3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811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EB7FB2-E4DD-44C7-A1E8-78B4DDB8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67640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RMSE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971871-DF04-4963-9043-6A112172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581150"/>
            <a:ext cx="714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B07832-AA52-4688-9171-9596E841F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676400"/>
            <a:ext cx="5429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R2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CEDCE0-7448-4D99-9747-C00EF4D4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581150"/>
            <a:ext cx="95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7658A-C92E-4F82-B1F3-DD4E72FC2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67640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795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Within 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C71A07-EFE6-4150-A10F-9E0CA0FE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812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E508D1-8D52-40BE-B686-ADDC798C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Pr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031BAF-69CA-4A27-9C5D-96592A27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8120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44AEFC-D273-478B-B31C-8C1804346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07645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RandomForest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ACE176-83DB-45C5-A9C7-6D24F5EC1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812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06F1A-BAC8-4D2E-9AC8-29179975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764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164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DC937C-D3B7-41A7-BE68-9233A6EB9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9812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26631B-AFCC-4069-9CEE-BE5CC7F6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764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55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61478D-FE22-4E13-94E2-427CD4F0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812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A952F7-6E15-4607-A7E8-67367B76E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764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10.28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47469E-3CB4-4039-9162-FB89FB6D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98120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3A9672-B858-42EA-A90E-A679E084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7645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14.20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02E695-D407-4F7A-A038-67C19F28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981200"/>
            <a:ext cx="714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3C48B1-5C5A-4011-9A6F-933EB30D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76450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0.173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3711A6-0A4B-4E14-8A82-86B40FDF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98120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05F9D0-7C0A-4D58-868A-533BC9E53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0764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58.2%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F84C7A-9859-4830-8D23-EB0BEA85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E1C8A45-F3B8-443F-A017-430E9C7C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76500"/>
            <a:ext cx="220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2Pr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072483-598D-4EB0-B4F5-E9DE0E59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14CDC5-9DB2-4A12-A1FF-06DEC5F8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76500"/>
            <a:ext cx="1352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ExtraTrees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678091-58F5-4675-A2AF-B33EC3E7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2EDBF6-A3A3-47F7-96BB-2150DC4B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7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107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C7A939-1EED-4CB7-946B-737C9D0C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812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3B2EB0-AE62-400E-B1A8-F3A8C9C7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4765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22488A7-1FFF-41F3-9893-553675B2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2762EC-D402-4F33-9345-D4E49B82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7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12.61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5F4B5CE-5132-4A1B-A5C8-ADA9A9A2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81250"/>
            <a:ext cx="85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E05DD94-D7DA-41E4-B4D9-E9688CFD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76500"/>
            <a:ext cx="68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17.15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559FBF-4680-49F0-B14D-A6E14C3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7143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332F8CC-3AB5-4D24-8F9C-61CC2001D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542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0.366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43B89C0-38C4-45A0-89FF-FF76D9DC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2381250"/>
            <a:ext cx="952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3AA9EB-CD3B-4FFD-B98E-8C547CAC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95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52.8%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2D9874A-922D-41C5-B891-25C767F0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762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7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478C77A-14A2-4493-9E61-F594C346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1623EAE-4C1D-44BC-AA41-0197D975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模型池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01FF6C7-866F-4634-AA7D-83D2062C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4419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RandomForest、ExtraTrees、GradientBoosting、Ridge、ElasticNet、SVR-RBF。所有模型使用同一个 fixed seed train/validation holdout。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296556A-9E26-440B-9ECC-12836D69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47625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9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14F552-AF02-4FA2-99BC-4730DAD1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76600"/>
            <a:ext cx="5715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6EF768A-F3ED-463C-9B4C-8DB50759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290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准确率口径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95C34DA-7E77-4218-A893-99764711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33800"/>
            <a:ext cx="4419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这是回归任务，accuracy 按验证集容差命中率定义：within 5 μC/cm²、within 10 μC/cm²、within 10% relative error。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231AF02-604E-4950-9854-6451B1D9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0B02F9A-3590-4D0B-9C87-B2B4AEFB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435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当前结果已经优于训练均值 baseline，但验证集规模仍偏小；下一步靠强相关文章 LLM 重抽和 gold set 提高可信度。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C228B81-EA37-4A82-97D1-26CAE05E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63757F7-9989-4381-B48E-76BD048A2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F1131D6-FAA2-4499-B952-65094F78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001104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CB7775-1761-4823-9D58-F04F1CC7E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5D620-D6DE-4EB1-99D9-F80E2E60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3E4071-B934-468C-A988-8E5203D1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强相关文章全量重抽取：队列已生成，dry run 已验证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83B9C-DD03-480A-AF7D-2C5074AE2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BD3BB-2449-4D7E-AFDB-FC1A25BFC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859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51A21-1C8F-40C4-8C1D-9635B02D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097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强相关论文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85C51-B823-4C95-B353-990975850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790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136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58C93-F13E-43FA-B426-6E276CA10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859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EB57D0-404D-47F7-ABEC-A5AD94B7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14859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71B0A-3D4F-4E48-B07A-789634D8F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97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已关联 chunks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5FA60D-AA93-498F-ABFA-B391CC76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90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563A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563A9"/>
                </a:solidFill>
                <a:latin typeface="Arial"/>
                <a:ea typeface="Arial"/>
                <a:cs typeface="Arial"/>
              </a:rPr>
              <a:t>251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626EE6-DEBE-4107-80DC-A9CF6CED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85900"/>
            <a:ext cx="2190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57DFB-BF22-47AD-8EB4-A3F004BF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4859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215F4C-4E18-4C33-925D-0EEDA01A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09725"/>
            <a:ext cx="190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全量 high-value chunks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A1C4F-819A-4AA2-8557-71141D00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90700"/>
            <a:ext cx="1905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842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842F"/>
                </a:solidFill>
                <a:latin typeface="Arial"/>
                <a:ea typeface="Arial"/>
                <a:cs typeface="Arial"/>
              </a:rPr>
              <a:t>4,169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12EC1-6D2F-4658-9F68-4DB89F6B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8590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452358-F728-4870-8A37-009715074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85900"/>
            <a:ext cx="57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2F4CC7-D878-49AA-AA58-A1ACF767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09725"/>
            <a:ext cx="152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586875"/>
                </a:solidFill>
                <a:latin typeface="Arial"/>
                <a:ea typeface="Arial"/>
                <a:cs typeface="Arial"/>
              </a:rPr>
              <a:t>dry run errors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83037-344D-4D78-BA4F-C5096316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90700"/>
            <a:ext cx="152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6C5EA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C5EA8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B0E5C7-7BEC-4DE2-A0BA-96E35D2E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4476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AC800E-2565-414A-9C64-149ADC08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670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5600C-D562-4344-BC92-1DE4CE77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已完成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290F1B-AA51-4E66-893A-031FFBB1E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133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新增 --paper-list / --chunk-list 抽取入口；带队列 reset 时只重置目标论文或 chunk 范围，不清空全库。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91A736-C100-4994-A6D0-56F9CB81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4476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AD6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7F2952-CD11-4B7B-805A-F32F1529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67050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B4B"/>
          </a:solidFill>
          <a:ln xmlns:a="http://schemas.openxmlformats.org/drawingml/2006/main" w="0">
            <a:solidFill>
              <a:srgbClr val="B54B4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D396EC-6218-4C9D-93F5-6CB4EA8B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1945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未自动放开的部分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2FF0B5-C2FF-47D9-BF8F-84C6E871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24250"/>
            <a:ext cx="4133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LLM 全量重抽约 4169 次调用，涉及 API 额度和时间。我没有自动消耗 DashScope key；当前已把队列和可恢复入口准备好。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F356CE-03EB-467A-8B55-9C3921F86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62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可执行命令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B6D79-6DF7-4327-96CB-FC659BEA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086350"/>
            <a:ext cx="9144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02033"/>
                </a:solidFill>
                <a:latin typeface="Arial"/>
                <a:ea typeface="Arial"/>
                <a:cs typeface="Arial"/>
              </a:rPr>
              <a:t>python pipelines/05_run_extraction.py --paper-list data/extraction_queues/strong_relevant_papers.csv --commit-every 25 --progress-every 20 --max-workers 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A591FBB-848F-492C-9751-C1BB4038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5785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零成本复现实验：加 --no-llm --dry-run；正式 LLM 重抽：去掉 --no-llm/--dry-run，并确保 .env 里 DashScope 配置有效。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34E2BD-43B6-4B27-AC27-0CD3B8BE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F611A2-4527-4A10-8971-44E10CC84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ADBC16-2E58-440F-A12D-0F73EF29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9896152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312F3A-F036-4C30-B771-E6CB100A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50FD1-0135-4CC5-A757-4631AEB01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4424F6-3ECE-4236-8DAE-9A322432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网页和环境：本地工作台已能作为 demo，不作为论文核心贡献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50B900-5ED1-47C0-9520-724B0381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E8F7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D579E-D387-4F8B-8720-9B0262A8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81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33851D-64E5-4189-BC57-55AB1A48C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335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Streamlit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7347E-DC11-45F8-9606-32B7FB53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3835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首页已整理成论文原型工作台视角：数据规模、benchmark、Pr/2Pr 模型、导出路径和风险提示集中展示。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243A64-BA88-4C58-B85E-7160F8F0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881B7-F675-4CDE-94D9-8181A5EE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9812C7-933C-48F9-B707-C5CE79795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3355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环境安全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D7AF9-D250-4981-80FF-EE888155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3835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.venv 是项目内虚拟环境；.env、PDF、SQLite、模型、日志、导出数据均在 .gitignore；不会提交 API key。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8B0A5-ACEC-4F5B-9841-C437C5398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3F4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F26A0C-110D-46A7-AFAD-7A2C005B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29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D4539E-5EC2-4CF0-BBB9-E5483227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814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验证情况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147AC-2F99-4671-9EAB-492A95AB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8620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pytest 已通过；强相关筛查与模型对比脚本已通过；强相关文章 dry run 全量遍历 4169 chunks 且 0 error。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7EB7EA-282D-4AE3-BE79-0CA73166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47625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C9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8B2BEB-8A5D-4F02-8052-01FDC0558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29000"/>
            <a:ext cx="571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B9D650-D82C-482C-8C61-27025BE4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441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GitHub 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8863A7-5BAD-40D1-BCEB-8AEFB6E1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86200"/>
            <a:ext cx="44196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本地已有提交，但 HTTPS/SSH 认证未完成，push 仍被 GitHub 身份验证阻塞。代码和报告保留在本机，不包含敏感 key。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4D44F-91B4-4D94-B78A-67A215FAD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FAEE21-8FF5-4704-B3AB-DB1946C7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A66C5E-86BC-45C4-B2B7-60A156858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7165394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06E4EC-AE8B-4C2C-8068-9012B2A0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4"/>
          </a:solidFill>
          <a:ln xmlns:a="http://schemas.openxmlformats.org/drawingml/2006/main" w="0">
            <a:solidFill>
              <a:srgbClr val="F6F8F4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B8202-155E-4C5A-9784-6EA40009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F7D5C"/>
                </a:solidFill>
                <a:latin typeface="Arial"/>
                <a:ea typeface="Arial"/>
                <a:cs typeface="Arial"/>
              </a:defRPr>
            </a:pPr>
            <a:r>
              <a:rPr sz="863" b="1">
                <a:solidFill>
                  <a:srgbClr val="2F7D5C"/>
                </a:solidFill>
                <a:latin typeface="Arial"/>
                <a:ea typeface="Arial"/>
                <a:cs typeface="Arial"/>
              </a:rPr>
              <a:t>HfO2-FerroKG 阶段进展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20EA9-4969-4DAE-8FF0-5567FA68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下一步：把强相关重抽取转成论文可报告结果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01D50-4B3D-4791-87AB-103E19A94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6FD3C-1200-43F0-8EA3-CDA631EC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764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1. 放开 DashScope LLM 对 136 篇强相关论文全量重抽，完成 sample-property link 和 AI audit 复跑。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55912-354A-4E1D-B122-F1FA3FCD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3A9"/>
          </a:solidFill>
          <a:ln xmlns:a="http://schemas.openxmlformats.org/drawingml/2006/main" w="0">
            <a:solidFill>
              <a:srgbClr val="3563A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1EA33-215E-4716-A0BC-761E058D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098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2. 完成 30 篇 gold set 人工标注，报告 extraction F1、linking accuracy、Pr/2Pr confusion 和单位错误率。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15541-3630-46BD-AD42-67674853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19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42F"/>
          </a:solidFill>
          <a:ln xmlns:a="http://schemas.openxmlformats.org/drawingml/2006/main" w="0">
            <a:solidFill>
              <a:srgbClr val="C8842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650AE1-F373-414F-8685-60FB93D52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432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3. 用重抽取后的 strong_only / strong_partial 重建 benchmark，再跑训练-验证模型对比。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3FF8A2-B625-4679-87C5-2D008E54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52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5EA8"/>
          </a:solidFill>
          <a:ln xmlns:a="http://schemas.openxmlformats.org/drawingml/2006/main" w="0">
            <a:solidFill>
              <a:srgbClr val="6C5EA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5D0CCA-F779-4FE0-B0DB-5ADB144E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4. 将网页 demo 保留为可展示入口，论文主线聚焦 ontology-first extraction、traceable KG、tiered benchmark 和设计模型。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3BAEF6-1392-4228-92EF-DBA0A21DF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9525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DF"/>
          </a:solidFill>
          <a:ln xmlns:a="http://schemas.openxmlformats.org/drawingml/2006/main" w="9525">
            <a:solidFill>
              <a:srgbClr val="D8D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11529-C9D7-4EB0-BCD0-2BCB56C8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571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5C"/>
          </a:solidFill>
          <a:ln xmlns:a="http://schemas.openxmlformats.org/drawingml/2006/main" w="0">
            <a:solidFill>
              <a:srgbClr val="2F7D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F740BE-B050-44F9-B196-7DAB1CB3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918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02033"/>
                </a:solidFill>
                <a:latin typeface="Arial"/>
                <a:ea typeface="Arial"/>
                <a:cs typeface="Arial"/>
              </a:rPr>
              <a:t>当前结论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0D940-102A-4AFE-9391-D93F046A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9650"/>
            <a:ext cx="9182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强相关数据切片已经可训练、可验证、可追溯；模型验证结果不再混用训练集；强相关文章全量重抽取已有安全队列和范围重置机制。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6EED9-9220-4FB2-ABE3-58F3A19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D5"/>
          </a:solidFill>
          <a:ln xmlns:a="http://schemas.openxmlformats.org/drawingml/2006/main" w="0">
            <a:solidFill>
              <a:srgbClr val="D8DE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4A3850-2CB3-4808-98EB-A1FE5404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72250"/>
            <a:ext cx="762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638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强相关文献筛查、本体/Benchmark 规划与训练-验证模型评估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701AAC-9315-49DF-BFA3-1C648774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8687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868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6064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2026-06-03T19:47:34.3250000Z</dcterms:created>
  <dcterms:modified xsi:type="dcterms:W3CDTF">2026-06-03T19:47:34.3250000Z</dcterms:modified>
</coreProperties>
</file>