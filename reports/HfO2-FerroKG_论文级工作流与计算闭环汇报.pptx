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daa8e9ae3d46e8" /><Relationship Type="http://schemas.openxmlformats.org/officeDocument/2006/relationships/extended-properties" Target="/docProps/app.xml" Id="R2ca8ea93b3534695" /><Relationship Type="http://schemas.openxmlformats.org/officeDocument/2006/relationships/officeDocument" Target="/ppt/presentation.xml" Id="Rf970746ed9a44e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80c146ae0b4d51"/>
  </p:sldMasterIdLst>
  <p:notesMasterIdLst>
    <p:notesMasterId xmlns:r="http://schemas.openxmlformats.org/officeDocument/2006/relationships" r:id="R13e35789e139485a"/>
  </p:notesMasterIdLst>
  <p:sldIdLst>
    <p:sldId xmlns:r="http://schemas.openxmlformats.org/officeDocument/2006/relationships" id="256" r:id="Rd942201d6fe54cfc"/>
    <p:sldId xmlns:r="http://schemas.openxmlformats.org/officeDocument/2006/relationships" id="257" r:id="Raf36dd473f53482c"/>
    <p:sldId xmlns:r="http://schemas.openxmlformats.org/officeDocument/2006/relationships" id="258" r:id="Rb416031409d94bc3"/>
    <p:sldId xmlns:r="http://schemas.openxmlformats.org/officeDocument/2006/relationships" id="259" r:id="Rd88056e9077d4ff0"/>
    <p:sldId xmlns:r="http://schemas.openxmlformats.org/officeDocument/2006/relationships" id="260" r:id="Raaf87813db5b483c"/>
    <p:sldId xmlns:r="http://schemas.openxmlformats.org/officeDocument/2006/relationships" id="261" r:id="R4fc4dc2655734a0d"/>
    <p:sldId xmlns:r="http://schemas.openxmlformats.org/officeDocument/2006/relationships" id="262" r:id="Re8e3e8a6213543f7"/>
    <p:sldId xmlns:r="http://schemas.openxmlformats.org/officeDocument/2006/relationships" id="263" r:id="R9f74cacda8e64ee9"/>
    <p:sldId xmlns:r="http://schemas.openxmlformats.org/officeDocument/2006/relationships" id="264" r:id="Rbedfc3c129f34881"/>
    <p:sldId xmlns:r="http://schemas.openxmlformats.org/officeDocument/2006/relationships" id="265" r:id="Rb6e9ac1db18744b8"/>
    <p:sldId xmlns:r="http://schemas.openxmlformats.org/officeDocument/2006/relationships" id="266" r:id="R45bc06024fc04a0b"/>
    <p:sldId xmlns:r="http://schemas.openxmlformats.org/officeDocument/2006/relationships" id="267" r:id="Rad3a93d48bb844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3e1c468f3b46ad" /><Relationship Type="http://schemas.openxmlformats.org/officeDocument/2006/relationships/slideMaster" Target="/ppt/slideMasters/slideMaster1.xml" Id="R7d80c146ae0b4d51" /><Relationship Type="http://schemas.openxmlformats.org/officeDocument/2006/relationships/notesMaster" Target="/ppt/notesMasters/notesMaster1.xml" Id="R13e35789e139485a" /><Relationship Type="http://schemas.openxmlformats.org/officeDocument/2006/relationships/presProps" Target="/ppt/presProps.xml" Id="Rc3575ddef86a41bb" /><Relationship Type="http://schemas.openxmlformats.org/officeDocument/2006/relationships/viewProps" Target="/ppt/viewProps.xml" Id="R548a9f30b7e94d42" /><Relationship Type="http://schemas.openxmlformats.org/officeDocument/2006/relationships/tableStyles" Target="/ppt/tableStyles.xml" Id="R67be9d6a6d7c434e" /><Relationship Type="http://schemas.openxmlformats.org/officeDocument/2006/relationships/slide" Target="/ppt/slides/slide1.xml" Id="Rd942201d6fe54cfc" /><Relationship Type="http://schemas.openxmlformats.org/officeDocument/2006/relationships/slide" Target="/ppt/slides/slide2.xml" Id="Raf36dd473f53482c" /><Relationship Type="http://schemas.openxmlformats.org/officeDocument/2006/relationships/slide" Target="/ppt/slides/slide3.xml" Id="Rb416031409d94bc3" /><Relationship Type="http://schemas.openxmlformats.org/officeDocument/2006/relationships/slide" Target="/ppt/slides/slide4.xml" Id="Rd88056e9077d4ff0" /><Relationship Type="http://schemas.openxmlformats.org/officeDocument/2006/relationships/slide" Target="/ppt/slides/slide5.xml" Id="Raaf87813db5b483c" /><Relationship Type="http://schemas.openxmlformats.org/officeDocument/2006/relationships/slide" Target="/ppt/slides/slide6.xml" Id="R4fc4dc2655734a0d" /><Relationship Type="http://schemas.openxmlformats.org/officeDocument/2006/relationships/slide" Target="/ppt/slides/slide7.xml" Id="Re8e3e8a6213543f7" /><Relationship Type="http://schemas.openxmlformats.org/officeDocument/2006/relationships/slide" Target="/ppt/slides/slide8.xml" Id="R9f74cacda8e64ee9" /><Relationship Type="http://schemas.openxmlformats.org/officeDocument/2006/relationships/slide" Target="/ppt/slides/slide9.xml" Id="Rbedfc3c129f34881" /><Relationship Type="http://schemas.openxmlformats.org/officeDocument/2006/relationships/slide" Target="/ppt/slides/slide10.xml" Id="Rb6e9ac1db18744b8" /><Relationship Type="http://schemas.openxmlformats.org/officeDocument/2006/relationships/slide" Target="/ppt/slides/slide11.xml" Id="R45bc06024fc04a0b" /><Relationship Type="http://schemas.openxmlformats.org/officeDocument/2006/relationships/slide" Target="/ppt/slides/slide12.xml" Id="Rad3a93d48bb844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36d655c65743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914c1c17484c44" /><Relationship Type="http://schemas.openxmlformats.org/officeDocument/2006/relationships/notesMaster" Target="/ppt/notesMasters/notesMaster1.xml" Id="R64ae4551613e46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2c30bba61e43aa" /><Relationship Type="http://schemas.openxmlformats.org/officeDocument/2006/relationships/notesMaster" Target="/ppt/notesMasters/notesMaster1.xml" Id="R88b2b24eea4946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ffee972e0543cf" /><Relationship Type="http://schemas.openxmlformats.org/officeDocument/2006/relationships/notesMaster" Target="/ppt/notesMasters/notesMaster1.xml" Id="Rd9661a4727164a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870250ed43489c" /><Relationship Type="http://schemas.openxmlformats.org/officeDocument/2006/relationships/notesMaster" Target="/ppt/notesMasters/notesMaster1.xml" Id="R7d7408b3afa746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2e8c9f38bc48a7" /><Relationship Type="http://schemas.openxmlformats.org/officeDocument/2006/relationships/notesMaster" Target="/ppt/notesMasters/notesMaster1.xml" Id="R984bbf2b9c3d44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bd0ef567624599" /><Relationship Type="http://schemas.openxmlformats.org/officeDocument/2006/relationships/notesMaster" Target="/ppt/notesMasters/notesMaster1.xml" Id="R13571ff773d54d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356da59e14418d" /><Relationship Type="http://schemas.openxmlformats.org/officeDocument/2006/relationships/notesMaster" Target="/ppt/notesMasters/notesMaster1.xml" Id="R2a673be1aa8543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500990a48e424d" /><Relationship Type="http://schemas.openxmlformats.org/officeDocument/2006/relationships/notesMaster" Target="/ppt/notesMasters/notesMaster1.xml" Id="R682811b1536a46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c6b5511aa74125" /><Relationship Type="http://schemas.openxmlformats.org/officeDocument/2006/relationships/notesMaster" Target="/ppt/notesMasters/notesMaster1.xml" Id="Rf4d65b0aa23241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95d629f4a54c2b" /><Relationship Type="http://schemas.openxmlformats.org/officeDocument/2006/relationships/notesMaster" Target="/ppt/notesMasters/notesMaster1.xml" Id="Rd39a3c83a8174d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c72b5e6a524d53" /><Relationship Type="http://schemas.openxmlformats.org/officeDocument/2006/relationships/notesMaster" Target="/ppt/notesMasters/notesMaster1.xml" Id="R3e91de47dfe54a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e91a235a684517" /><Relationship Type="http://schemas.openxmlformats.org/officeDocument/2006/relationships/notesMaster" Target="/ppt/notesMasters/notesMaster1.xml" Id="Rd98873b9959f42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9b6893ddc4d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2bae2f727f4376" /><Relationship Type="http://schemas.openxmlformats.org/officeDocument/2006/relationships/slideLayout" Target="/ppt/slideLayouts/slideLayout1.xml" Id="R6f519d2beaa645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519d2beaa645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c441cf03745db" /><Relationship Type="http://schemas.openxmlformats.org/officeDocument/2006/relationships/notesSlide" Target="/ppt/notesSlides/notesSlide1.xml" Id="R113cededd68f4e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995dc442b443a" /><Relationship Type="http://schemas.openxmlformats.org/officeDocument/2006/relationships/notesSlide" Target="/ppt/notesSlides/notesSlide2.xml" Id="Rbe5cdc62409843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4287c2f904e6c" /><Relationship Type="http://schemas.openxmlformats.org/officeDocument/2006/relationships/notesSlide" Target="/ppt/notesSlides/notesSlide3.xml" Id="R866297ab135e49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21837a5dc4a19" /><Relationship Type="http://schemas.openxmlformats.org/officeDocument/2006/relationships/notesSlide" Target="/ppt/notesSlides/notesSlide4.xml" Id="Rb5938590910c41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7964784734959" /><Relationship Type="http://schemas.openxmlformats.org/officeDocument/2006/relationships/notesSlide" Target="/ppt/notesSlides/notesSlide5.xml" Id="Rc61f0ad6568541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238206e324f88" /><Relationship Type="http://schemas.openxmlformats.org/officeDocument/2006/relationships/notesSlide" Target="/ppt/notesSlides/notesSlide6.xml" Id="R98d44ae93de144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d47f9c04947c6" /><Relationship Type="http://schemas.openxmlformats.org/officeDocument/2006/relationships/notesSlide" Target="/ppt/notesSlides/notesSlide7.xml" Id="R54c5355fa5ca4a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f1e1029a54258" /><Relationship Type="http://schemas.openxmlformats.org/officeDocument/2006/relationships/notesSlide" Target="/ppt/notesSlides/notesSlide8.xml" Id="R0f773ee3d4274e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2f0c143874e00" /><Relationship Type="http://schemas.openxmlformats.org/officeDocument/2006/relationships/notesSlide" Target="/ppt/notesSlides/notesSlide9.xml" Id="Rfefd35c109e94d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be7504acb4aaf" /><Relationship Type="http://schemas.openxmlformats.org/officeDocument/2006/relationships/notesSlide" Target="/ppt/notesSlides/notesSlide10.xml" Id="R3e40bb474dbd49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c169f45e7424a" /><Relationship Type="http://schemas.openxmlformats.org/officeDocument/2006/relationships/notesSlide" Target="/ppt/notesSlides/notesSlide11.xml" Id="R408afc6b630c4f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76a6af5034411" /><Relationship Type="http://schemas.openxmlformats.org/officeDocument/2006/relationships/notesSlide" Target="/ppt/notesSlides/notesSlide12.xml" Id="R4a420c2c92bf41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BD0695-F62E-4F6E-A56C-BD77C0D8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079AF-8205-45C0-BAF7-BAC9D862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066C5-17C4-4562-BD3C-8F56566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A7918-F032-4581-8876-41A2AEAC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AA466-55D5-43C9-9AB2-994161B9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65623-61C6-4C94-8EC2-0841AF9D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HfO2-FerroKG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27E2B-0637-4730-B59F-6FA17FB4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论文级工作流与计算反馈闭环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984DF-3046-40BA-B792-72781DC5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从 HfO2/HZO 文献到样品级知识图谱、Pr/2Pr benchmark、验证集模型评测与计算任务规划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9A490-E4E6-4901-B3BA-C1FF4BF9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118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目标：把分散文献中的材料-工艺-结构-性能证据，组织成可追溯、可建模、可计算反馈的材料设计基础设施。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723B4-98C6-4BA6-BD56-9293D80E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0">
            <a:solidFill>
              <a:srgbClr val="E9F1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A63CB-0F8E-4D8A-9918-FC2C90A2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样品级 KG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7023D-D418-4CDD-B09E-DEDAD778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957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0">
            <a:solidFill>
              <a:srgbClr val="EFEA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8FD0A-33C1-4B7D-9856-49085546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7195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Pr / 2Pr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8E608-DC26-4A98-BFAE-42F63B86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0">
            <a:solidFill>
              <a:srgbClr val="E9F5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B73FF-FC83-4B56-9D1F-5C98E012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验证集评测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271B9-DFC6-46CC-BDD8-317F6F29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957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0">
            <a:solidFill>
              <a:srgbClr val="F7EE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16036-AEB7-4711-A014-2508167F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71950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计算反馈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4EDE9-2BA2-4B32-904F-11CAE92A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14400"/>
            <a:ext cx="25717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8708B-047E-47F8-AA25-A1DF3722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19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当前快照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0ADF7-F73B-47D5-BE84-4FB2DD55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1943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06256-09AD-42A4-843F-BDC9ED3B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6A3B4-B2A3-44DA-B3BE-13DEFFE7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811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5E6877"/>
                </a:solidFill>
                <a:latin typeface="Arial"/>
                <a:ea typeface="Arial"/>
                <a:cs typeface="Arial"/>
              </a:rPr>
              <a:t>PDF 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4D667-117B-4364-9780-C5EEE635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584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02E09-4DE7-47BE-A50A-CEFB6A76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19325"/>
            <a:ext cx="1676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8B95A3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8B95A3"/>
                </a:solidFill>
                <a:latin typeface="Arial"/>
                <a:ea typeface="Arial"/>
                <a:cs typeface="Arial"/>
              </a:rPr>
              <a:t>本地文献库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6A741-9E8E-4070-AAC1-9CCF55B5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1943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0674D-0C90-4663-BC5A-A6A2667A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15C10-07CC-4235-992F-3D8B3E60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7652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5E6877"/>
                </a:solidFill>
                <a:latin typeface="Arial"/>
                <a:ea typeface="Arial"/>
                <a:cs typeface="Arial"/>
              </a:rPr>
              <a:t>样品级关联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24728-6656-443F-9994-A9C4F56C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20,633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36F7C2-56AB-4E89-B5D2-E083DF9B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14675"/>
            <a:ext cx="1676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8B95A3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8B95A3"/>
                </a:solidFill>
                <a:latin typeface="Arial"/>
                <a:ea typeface="Arial"/>
                <a:cs typeface="Arial"/>
              </a:rPr>
              <a:t>sample-property links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007C5C-F84F-4A31-8361-5BB5C827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8050"/>
            <a:ext cx="1943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E42CDC-2131-4C62-8504-D654AF79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80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E9C"/>
          </a:solidFill>
          <a:ln xmlns:a="http://schemas.openxmlformats.org/drawingml/2006/main" w="0">
            <a:solidFill>
              <a:srgbClr val="7F6E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C70621-41E8-4035-B0BA-5603C907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718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5E6877"/>
                </a:solidFill>
                <a:latin typeface="Arial"/>
                <a:ea typeface="Arial"/>
                <a:cs typeface="Arial"/>
              </a:rPr>
              <a:t>Design dataset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7D6E0D-0FDD-45A5-A53B-D29006A7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5285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12,297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595BA7-8278-4798-B8B3-C8244093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10025"/>
            <a:ext cx="1676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8B95A3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8B95A3"/>
                </a:solidFill>
                <a:latin typeface="Arial"/>
                <a:ea typeface="Arial"/>
                <a:cs typeface="Arial"/>
              </a:rPr>
              <a:t>model-ready 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1EA31C-D8E8-4B41-AAF0-1C0F81CD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1943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55735D-7F94-4C76-ACC3-E7C1B0D8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94D"/>
          </a:solidFill>
          <a:ln xmlns:a="http://schemas.openxmlformats.org/drawingml/2006/main" w="0">
            <a:solidFill>
              <a:srgbClr val="B989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4F57E1-748D-464B-A581-55074B4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6722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5E6877"/>
                </a:solidFill>
                <a:latin typeface="Arial"/>
                <a:ea typeface="Arial"/>
                <a:cs typeface="Arial"/>
              </a:rPr>
              <a:t>计算任务计划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AF10FA-3086-43E5-B665-3B44E26B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4820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E26D72-EA3E-41EA-81CE-68421AF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05375"/>
            <a:ext cx="1676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8B95A3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8B95A3"/>
                </a:solidFill>
                <a:latin typeface="Arial"/>
                <a:ea typeface="Arial"/>
                <a:cs typeface="Arial"/>
              </a:rPr>
              <a:t>planned 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81FB82-DED4-482D-8ABF-3637492C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3B1B95-D5D2-42A8-BBCF-640D8C18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2026-06-09 | 本地项目快照与论文路线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166036-A863-4399-AA39-ADBC58B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35054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3E1FE-6683-48C1-A201-D2409B7D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1B103-2D34-4BB3-AD22-E9A748DD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FC432-A948-467A-BC3F-CFED5FE8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72351-361D-424F-9B02-294920E2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BF19A-4A13-430E-B248-A4FA61B1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论文问题收敛：不是网页工具，而是证据可追溯的数据方法系统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D5D2C-3D97-40FF-AA44-F91792E4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BE1EA-ACCA-42AB-9C9F-C4891A4B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9F70C-ADB9-42FA-9DE1-119826DC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9D2F5-7693-488A-B15B-7B86B768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81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如何从 HfO2/HZO 文献中构建样品级、证据可追溯、可建模、可计算反馈的材料知识图谱？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00271-DDC5-4DA6-AF1D-0FDB0E3C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28750"/>
            <a:ext cx="4114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1C7B1-1E64-4B6E-AF23-CEAE04FE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28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E9C"/>
          </a:solidFill>
          <a:ln xmlns:a="http://schemas.openxmlformats.org/drawingml/2006/main" w="0">
            <a:solidFill>
              <a:srgbClr val="7F6E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99FB6-C651-4A7D-9457-C42BFF52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第一版范围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857E7-24AF-41E7-8FA5-14465503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5950"/>
            <a:ext cx="3790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只做 HfO2/HZO/doped HfO2。BaTiO3、PZT、BiFeO3 等体系不进入主线；Pr 和 2Pr 是第一性能目标。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4083D-6A8B-4AC4-82D1-839043B4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DD86A-2EA5-40F7-87D2-4253609D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28975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贡献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B82B2-DE10-4806-A23D-0A866210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581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CBB70-7D27-4099-B5CD-E64D86F9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28975"/>
            <a:ext cx="565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论文中怎么讲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5A431-3067-4BC9-B359-6F1A0A41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024B0-0682-4731-B66B-36F9132D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2897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评测证据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50BD0-D9DE-441C-ACD7-7812E0D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077EE-3725-4C6F-AEB3-DC2F1370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099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本体约束抽取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AF142-88C1-438F-93F3-967C5C1D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2425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CA40F-600D-48F1-8EB1-BB76204D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6099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用 HfO2 领域 schema 抽取材料、工艺、相、器件、性能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F3B0D-F5E1-4147-830A-440CF86E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53F03-0358-48DC-9CDC-E43A221A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60997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gold set F1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AED93F-9E97-4B0A-B1CC-317B48E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C4EB18-4DB1-4BC0-9C2D-972B7E84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909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样品级关联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4DE6D-C852-48A7-BB0A-E15337D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0525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EFFFF-E916-4D74-B009-3DC26D09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9909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性能值绑定到厚度、退火、电极、相结构和证据页码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7A0CF9-4EF8-49A3-87D1-606CA5C6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19C1BF-29A3-4301-B6D4-8D797815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99097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linking accuracy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37E194-5B6C-4766-8387-ED84012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222BD-B4CE-4F96-8B3E-0DFA796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719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分层 benchmark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3380FA-A4CD-48D3-965F-782A6F71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8625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5767D2-BF24-4DE8-A438-6B7C7822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3719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strong_only / strong_partial / all_traceable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4EBCB5-211E-4E89-92DE-9B090390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862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41C41E-00BF-40BE-AC2B-6163BC5D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37197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Pr/2Pr rows + traceability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E895A5-B897-49AD-85EA-B7576FF9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F6DF8A-9AB9-4E6B-AD8F-1968A803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529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预测模型验证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6A9E7C-E68B-4502-96D6-86C603DC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6725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ADA6E1-B653-4EA1-BD0F-E3283DB5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529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固定训练/验证集，对比六类通用模型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26373E-7BB5-4369-B10F-72C0447A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672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11E035-D140-48FA-8C13-F35738FB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75297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MAE/RMSE/R2/within10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050D69-FC57-4FCA-AB23-A0F08F3F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8D3F9C-8E91-4A07-80DC-59210225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339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计算反馈闭环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6E8DE5-13AF-47B2-9EAD-450D3B43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4825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60F19A-EDAF-4D1A-8F78-88179162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1339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把候选设计转成严谨计算任务，并回写 descriptors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AA6039-0A77-4124-9B41-E0A33D19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482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034012-4BAC-46E2-8820-5A2DC915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13397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task validity + descriptors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79081B-9316-48ED-87CB-96448791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6097DB-491F-4DBE-8C37-668B57B0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EE1B7D-6472-44DE-BE13-E74FF56B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07048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C93FC-5581-4133-8199-65FD8424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97093-82FE-48AB-9472-F9237BEF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3AE0F-43FA-4F2D-8D7F-B487F9D3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F6AB8-AE67-47A8-914F-DDCCCC15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25B71-F52E-4CA7-BAF9-1EF035A4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为什么 HfO2/HZO 文献很难直接用于材料设计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17616-1896-41FB-ACBB-CA100D5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3143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CB70B-AA1C-4F06-A79D-4597D47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C925E-EEEB-44E4-A2DB-61F9E90C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样品条件决定性能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80281-5D72-4327-B668-84AEB57C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同一个 HZO 名称下，厚度、Zr/Hf 比、退火温度/时间/气氛、电极、衬底、器件和 wake-up 状态都会改变 Pr/2Pr。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F4C64-B494-4A62-8A22-EEFF42FA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66850"/>
            <a:ext cx="3143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95A73-0D7A-417D-9BC7-D386999E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668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C5C"/>
          </a:solidFill>
          <a:ln xmlns:a="http://schemas.openxmlformats.org/drawingml/2006/main" w="0">
            <a:solidFill>
              <a:srgbClr val="B45C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F8A3A-1EEF-46E4-B832-73F78E8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192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Pr / 2Pr 高频混淆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D1AB9-6E3F-46BD-B9D7-37F0B4F3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文献中常同时出现 Pr、2Pr、Psw、Pr after wake-up。若不保留原始证据，模型会学到错误目标。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C319D-39F7-4FCA-B0D7-663E7CD8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66850"/>
            <a:ext cx="3143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EEA58-BD14-4210-AE46-5F11C8CE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668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E9C"/>
          </a:solidFill>
          <a:ln xmlns:a="http://schemas.openxmlformats.org/drawingml/2006/main" w="0">
            <a:solidFill>
              <a:srgbClr val="7F6E9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DC746-C8AF-4238-9C21-C126577E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计算与实验尺度不一致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DAD4C-60E4-4D77-9C10-4520183F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DFT 的 bulk/supercell 结果不能直接等价于薄膜器件性能；需要相场、界面、缺陷和工艺路径连接。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CCA11-4200-4A67-B467-117FDE68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D2D2C-6567-43B0-8FBD-7598DCC6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所以本项目的主线不是“用 AI 总结文献”，而是建立样品级事实、分层 benchmark、验证集模型和计算反馈的统一闭环。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38222-AA84-414C-9101-0D412E83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材料/工艺变量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C19CB4-DFA3-4643-816F-28B36641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52950"/>
            <a:ext cx="457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F5CBE-BCFA-4F08-AEA0-BA09665C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52950"/>
            <a:ext cx="391885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2BB4E-0D3B-4613-9B36-878718D5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053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7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7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12+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F21E2-DCA0-4B74-88F2-9BA0800C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目标性能类型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1F297E-AFDC-4A65-A1C0-450A5379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33950"/>
            <a:ext cx="457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A5990-A097-4FF5-ACFB-0C7470FC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339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E9C"/>
          </a:solidFill>
          <a:ln xmlns:a="http://schemas.openxmlformats.org/drawingml/2006/main" w="0">
            <a:solidFill>
              <a:srgbClr val="7F6E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5B812-331F-4DA0-80F7-05EAF005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863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7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7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7+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1AC9B-9319-4576-BF38-B154AE64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证据追溯字段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BC756-F1B8-4F7E-9FFC-86D6A2D6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14950"/>
            <a:ext cx="457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B83C7B-F064-4984-AB20-9D0915F4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14950"/>
            <a:ext cx="457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A3B97-F599-49BE-B877-B9A47E43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673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7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7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FB395-09DA-4AA1-95B3-43C5109E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计算尺度层级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8F9D9C-4E4A-45DE-8C0D-CD213B85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95950"/>
            <a:ext cx="457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D63EE1-E919-4189-8552-7EC54D1B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95950"/>
            <a:ext cx="457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94D"/>
          </a:solidFill>
          <a:ln xmlns:a="http://schemas.openxmlformats.org/drawingml/2006/main" w="0">
            <a:solidFill>
              <a:srgbClr val="B989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13178C-E91C-4B4A-9506-17AFC550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6483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7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7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F08ACB-ED99-4302-A802-DA0E96E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C17CD6-E784-433D-AF5F-E81C1C42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50D5A-E52C-4002-A782-7AEF5763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64203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03EBCF-E01E-4E67-B791-A5DE700F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DC9F1-0DE0-4AEC-BDB8-D96462A9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D474A-D0B5-4068-BD6E-730253C0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D0534-B4E3-4F00-B93A-C6AED606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C8BFF-0B09-4266-97F4-7455D185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系统工作流：文献证据先行，模型与计算都要回到证据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01927-0F72-4F12-AAE8-F4BA112E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1430">
            <a:solidFill>
              <a:srgbClr val="4D77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71910-AE83-4045-8360-8A7BF635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5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CA264-2A79-4C93-A164-C074FEA4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74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02E93-5E0C-436E-A4B4-95DD6769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09750"/>
            <a:ext cx="106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15EA3-25B3-4663-A8F7-946A5223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85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9DDEE4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9DDEE4"/>
                </a:solidFill>
                <a:latin typeface="Arial"/>
                <a:ea typeface="Arial"/>
                <a:cs typeface="Arial"/>
              </a:rPr>
              <a:t>Parse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227B9-4DF5-40CB-BECF-CE390EDE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574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3028F-BA4C-494F-9BBA-24C265CB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106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1430">
            <a:solidFill>
              <a:srgbClr val="7AA58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A2114-5492-4FC5-9904-73A8D000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85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Schema</a:t>
            </a:r>
          </a:p>
          <a:p xmlns:a="http://schemas.openxmlformats.org/drawingml/2006/main">
            <a:pPr algn="ctr">
              <a:defRPr sz="848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D4EE9-A366-47F4-9D1E-492673B2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74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2EB37-52A4-42F6-85C8-BFF160D4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106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F6E9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33049-2E37-40C8-B1EF-71875C98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85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Sample</a:t>
            </a:r>
          </a:p>
          <a:p xmlns:a="http://schemas.openxmlformats.org/drawingml/2006/main">
            <a:pPr algn="ctr">
              <a:defRPr sz="848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Linking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553F3-FE4C-4AB1-AB53-16840F7F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74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0BBB4-A0FF-461C-8CEB-E2D3E3C7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106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1430">
            <a:solidFill>
              <a:srgbClr val="B45C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AB9E7-2363-46C2-846F-4B06DB22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85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B45C5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45C5C"/>
                </a:solidFill>
                <a:latin typeface="Arial"/>
                <a:ea typeface="Arial"/>
                <a:cs typeface="Arial"/>
              </a:rPr>
              <a:t>AI/Manual</a:t>
            </a:r>
          </a:p>
          <a:p xmlns:a="http://schemas.openxmlformats.org/drawingml/2006/main">
            <a:pPr algn="ctr">
              <a:defRPr sz="848" b="1">
                <a:solidFill>
                  <a:srgbClr val="B45C5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45C5C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57018-28FC-4E60-AF76-FA04F4C3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74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7BC3EB-94ED-4178-A69B-0FFD148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106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89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AC95B-6507-4DD4-AD5E-BBC4D488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85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Tiered</a:t>
            </a:r>
          </a:p>
          <a:p xmlns:a="http://schemas.openxmlformats.org/drawingml/2006/main">
            <a:pPr algn="ctr">
              <a:defRPr sz="848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E0087-45B2-432B-A6D9-04557023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74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32BF3-C2ED-43AD-9362-D2D5CAB4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9750"/>
            <a:ext cx="106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1430">
            <a:solidFill>
              <a:srgbClr val="4D77A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1C551-BB6E-4B27-A1F3-4A3F863B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85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25018-970C-42D4-B984-754265BD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574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2AB261-232D-4F78-8FC8-8014C73E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09750"/>
            <a:ext cx="106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AA58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C81B05-CBAC-4D1D-A8C7-173A9912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85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Compute</a:t>
            </a:r>
          </a:p>
          <a:p xmlns:a="http://schemas.openxmlformats.org/drawingml/2006/main">
            <a:pPr algn="ctr">
              <a:defRPr sz="848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CE5B3B-183C-4622-A2E0-6A083156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1430">
            <a:solidFill>
              <a:srgbClr val="4D77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1BFA8-6933-4E24-89BE-89AC2753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290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Evidence KG</a:t>
            </a:r>
          </a:p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Design KG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1601DF-A209-4A26-AEBF-A89B82F1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123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11430">
            <a:solidFill>
              <a:srgbClr val="7F6E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20BAA-A7C9-4386-BDC9-38518E77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RAG</a:t>
            </a:r>
          </a:p>
          <a:p xmlns:a="http://schemas.openxmlformats.org/drawingml/2006/main">
            <a:pPr algn="ctr">
              <a:defRPr sz="848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D8D51E-A975-498E-AED0-86A006E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11430">
            <a:solidFill>
              <a:srgbClr val="B989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80E5E3-2667-41C9-BEDF-99957F1B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290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Design</a:t>
            </a:r>
          </a:p>
          <a:p xmlns:a="http://schemas.openxmlformats.org/drawingml/2006/main">
            <a:pPr algn="ctr">
              <a:defRPr sz="848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B08FC3-4D3A-460F-9AA7-D15054F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513" y="2533650"/>
            <a:ext cx="28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DDA3C7-9555-4FC2-921A-4B4EFD3D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0488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7051EC-D726-4A11-8668-1E510EAA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13" y="2533650"/>
            <a:ext cx="28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32A1F5-4082-48B1-BB8B-5585DFBE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F33DF9-895D-49AD-833A-6A0003B3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7B56CC-0318-47A6-8AAA-4C2554D9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2445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关键原则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D7D944-9296-4D13-A36D-F36A7F2F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29250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任何进入论文结论、模型训练或计算任务的事实，都必须保留 paper、DOI、page、chunk、evidence_text 和样品条件。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A9ADBA-643A-4B12-AA5D-9EFC197E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64E137-5D94-4EB7-970F-C72D6A89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C5C"/>
          </a:solidFill>
          <a:ln xmlns:a="http://schemas.openxmlformats.org/drawingml/2006/main" w="0">
            <a:solidFill>
              <a:srgbClr val="B45C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5D3208-DAD7-4ABA-AE32-AA78F8A3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2445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安全原则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D8F105-9B68-4241-9FF2-A2D1758B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计算反馈先生成任务清单，不自动提交云端；API key、SSH key、PDF、SQLite、模型和日志不进入 GitHub。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F82609-594E-4706-8C08-6C317630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37044B-1924-4718-BF31-A7C52169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959000-88F2-4934-AD76-F53D0B58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75601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341187-443C-4F21-BD2D-CDD788D1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B2F7B-C7A8-4835-AD39-DF6364D7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9A6FD-FE45-41E0-9B90-DFA0765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F636F-4788-4E11-A69D-14180C8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AF6CC-7EBF-466D-AE1D-93F5346D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数据底座：已具备论文原型的规模，但正式结果要分层报告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BA54A-84F3-45F2-BE52-ADAEB7DB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48CA9-6EA8-4416-BDED-15A1EE17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8C8A8-EDBB-400D-BF24-A2B07D7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5E6877"/>
                </a:solidFill>
                <a:latin typeface="Arial"/>
                <a:ea typeface="Arial"/>
                <a:cs typeface="Arial"/>
              </a:rPr>
              <a:t>PDF 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15055-1FE4-4578-8CAB-EF402630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584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34BEE-069B-4902-AC0B-2F4EB849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371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8B95A3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8B95A3"/>
                </a:solidFill>
                <a:latin typeface="Arial"/>
                <a:ea typeface="Arial"/>
                <a:cs typeface="Arial"/>
              </a:rPr>
              <a:t>corpus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90EC5-7265-4B98-9D82-ECB5E132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390650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F44A8-28F6-49D7-916A-A487C757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3906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A285D-0749-4C35-A7A1-23E2B013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1447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5E6877"/>
                </a:solidFill>
                <a:latin typeface="Arial"/>
                <a:ea typeface="Arial"/>
                <a:cs typeface="Arial"/>
              </a:rPr>
              <a:t>解析页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4A5D8-0FD3-4780-B8C4-9D171B61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8,595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7EE96-CA35-42CE-81D5-BC436395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1371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8B95A3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8B95A3"/>
                </a:solidFill>
                <a:latin typeface="Arial"/>
                <a:ea typeface="Arial"/>
                <a:cs typeface="Arial"/>
              </a:rPr>
              <a:t>page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6DF62-B7B5-4D4B-81BB-CDFFE7A2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3906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87B0F-F6C8-4192-AEC1-8B1436BF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3906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E9C"/>
          </a:solidFill>
          <a:ln xmlns:a="http://schemas.openxmlformats.org/drawingml/2006/main" w="0">
            <a:solidFill>
              <a:srgbClr val="7F6E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EF102-790D-435B-A321-275FBFA2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144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5E6877"/>
                </a:solidFill>
                <a:latin typeface="Arial"/>
                <a:ea typeface="Arial"/>
                <a:cs typeface="Arial"/>
              </a:rPr>
              <a:t>document chunks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70D64-527F-409B-8219-80DF542C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9545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22,526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45D43-2C6F-42FF-A0BE-A35089B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52625"/>
            <a:ext cx="1543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8B95A3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8B95A3"/>
                </a:solidFill>
                <a:latin typeface="Arial"/>
                <a:ea typeface="Arial"/>
                <a:cs typeface="Arial"/>
              </a:rPr>
              <a:t>semantic units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C3479-EDB6-4ECD-9C5C-FDEBF1B5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90650"/>
            <a:ext cx="171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ECDA2-71E7-439B-B0CC-12AF76C2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906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94D"/>
          </a:solidFill>
          <a:ln xmlns:a="http://schemas.openxmlformats.org/drawingml/2006/main" w="0">
            <a:solidFill>
              <a:srgbClr val="B989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2F522-C6FC-4931-9AED-11B60640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1447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5E6877"/>
                </a:solidFill>
                <a:latin typeface="Arial"/>
                <a:ea typeface="Arial"/>
                <a:cs typeface="Arial"/>
              </a:rPr>
              <a:t>reviewed 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BCAA7-C79C-4B93-9F86-08A17555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4,153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AD1A6-7C57-4485-A50F-738C835D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52625"/>
            <a:ext cx="1447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8B95A3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8B95A3"/>
                </a:solidFill>
                <a:latin typeface="Arial"/>
                <a:ea typeface="Arial"/>
                <a:cs typeface="Arial"/>
              </a:rPr>
              <a:t>upstream 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5C40D-BA49-4D15-AC0F-00C35926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906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8FD407-EE22-4384-94A5-259CF71C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906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C5C"/>
          </a:solidFill>
          <a:ln xmlns:a="http://schemas.openxmlformats.org/drawingml/2006/main" w="0">
            <a:solidFill>
              <a:srgbClr val="B45C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A6325-E078-4516-BB7B-DC49ADC3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144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5E6877"/>
                </a:solidFill>
                <a:latin typeface="Arial"/>
                <a:ea typeface="Arial"/>
                <a:cs typeface="Arial"/>
              </a:rPr>
              <a:t>sample links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6B835-8578-4E5B-B8EC-65FE2D03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9545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C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45C5C"/>
                </a:solidFill>
                <a:latin typeface="Arial"/>
                <a:ea typeface="Arial"/>
                <a:cs typeface="Arial"/>
              </a:rPr>
              <a:t>20,633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63FCAE-D23E-4974-AAD5-E6B6A9C2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52625"/>
            <a:ext cx="1543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8B95A3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8B95A3"/>
                </a:solidFill>
                <a:latin typeface="Arial"/>
                <a:ea typeface="Arial"/>
                <a:cs typeface="Arial"/>
              </a:rPr>
              <a:t>main 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E06ECE-9E8D-4A9F-8EB7-2549ADFE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629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9AA47B-CD89-4A2B-9D06-9C614356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B4912A-A8FE-4215-8F7C-196BB008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Benchmark 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881935-17C0-4A89-9E30-3A4F40C0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design dataset 12,297 行；strong_only 992 行；strong_partial 4,731 行；all_traceable 12,168 行。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FE137A-EA49-43D1-99FC-7E83A189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4629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A04962-ABB9-4569-99E9-C0CFDD8C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E1C18F-C0B7-4748-A1FD-199A6427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强相关 Pr/2Pr 切片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AB533-311E-4ED7-ADF3-3557C9C9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进一步限定 sample-level、strong_only、model_include=1、AI 未拒绝、page/chunk/evidence 完整，得到 362 行：Pr 219，2Pr 143。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84F362-F40A-4777-B350-65B28114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0F11C7-04F0-43AF-BD2D-E41FDD42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1487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数据层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A4CE62-CCC5-458F-B3BE-8412AC65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2915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2393C0-0364-4B16-96BF-5B6F56B2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7148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适合用途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A2D17E-1495-4CC1-B829-3B1E9D51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B4DA34-621F-415A-9BFD-EA2E2E15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714875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论文用法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1EBA84-3833-40CF-8AFA-A4FB6DA9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1CDFAA-C90B-4B98-8DE7-23347447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7682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全量 KG/RAG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DB66ED-9144-47E2-9D48-43265590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9110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3D4273-EDDA-42B6-8E15-8C6C7F8B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07682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检索、证据追溯、探索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C272EF-DDAA-4B9C-870E-7CD74FA2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911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88C26B-1474-4640-84FC-C97342A6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076825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定性展示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81ACD2-649C-4C02-B693-B10B25A7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2C76A9-2FF1-494F-8AC9-E279F51E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43877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strong_partial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D833F6-BA5A-4328-9EFF-A67F3870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5305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A529BB-3866-4498-9815-8BDD7228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4387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敏感性分析、补充模型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5194E9-F684-455C-A72B-2BC69558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530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9EF98F-5714-4E80-89A8-5E51A1DF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438775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补充结果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26B35F-92B6-4D94-B115-F9DE2ABE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3FC55A-A9D5-4AA8-A6FF-EC2475FC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80072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strong_only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318EC3-262C-43B1-8918-5BD17A5F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1500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1B81FC-2305-47A0-A306-4C8EA424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80072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主模型、主 benchmark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069E9A-031A-4440-B6F6-8D779D27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7150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3FD95E-0561-4054-A7DA-EA79D4A9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800725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主结果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258878-2D68-47E0-9F38-144296BA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11A4A9-AB8D-4979-9303-778C803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AC4AE4-C3BD-45F2-8A80-4719023E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36624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2E6F1-102C-404D-84D2-2850B443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A9DB7-C7A8-4E85-8467-78D521C7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EB3E5-0E43-421B-A3B9-F9490A37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E3BBA-E8ED-4973-AA4B-87C5FF3B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7D1BD-1230-42D6-AAE6-7EC7953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本体与 Benchmark：以 ThinFilmSample 为中心组织事实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C688C-9628-4F64-9E14-6C228717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10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1430">
            <a:solidFill>
              <a:srgbClr val="4D77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320BA-68E8-4973-8C33-9806F47E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2AF45-6AF2-425D-BBD6-3130B960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85950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11430">
            <a:solidFill>
              <a:srgbClr val="7AA5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37157-ECB2-4D89-AEE5-4A7BC9BB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9550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Chunk / Table /</a:t>
            </a:r>
          </a:p>
          <a:p xmlns:a="http://schemas.openxmlformats.org/drawingml/2006/main">
            <a:pPr algn="ctr">
              <a:defRPr sz="848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9F2F6-78AC-454E-A6E5-251AAB83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11430">
            <a:solidFill>
              <a:srgbClr val="7F6E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AFC98-4609-4627-9BCE-CEF1540F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Hafnia</a:t>
            </a:r>
          </a:p>
          <a:p xmlns:a="http://schemas.openxmlformats.org/drawingml/2006/main">
            <a:pPr algn="ctr">
              <a:defRPr sz="848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Material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3D10C-EA6A-4DD6-ACE1-E3491FB0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139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11430">
            <a:solidFill>
              <a:srgbClr val="B989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7A92E-900C-47A4-AFB8-A3B02B92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ThinFilm</a:t>
            </a:r>
          </a:p>
          <a:p xmlns:a="http://schemas.openxmlformats.org/drawingml/2006/main">
            <a:pPr algn="ctr">
              <a:defRPr sz="848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84C8C-A22E-4703-9B76-C56C8B2E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1430">
            <a:solidFill>
              <a:srgbClr val="4D77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98DD1-6FD5-4E4A-B28F-FD792519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Process /</a:t>
            </a:r>
          </a:p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Phase / Device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3B587-A085-4746-BE5F-CB418B84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885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11430">
            <a:solidFill>
              <a:srgbClr val="7AA58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4E996-1688-41DD-8864-158167D7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95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Property +</a:t>
            </a:r>
          </a:p>
          <a:p xmlns:a="http://schemas.openxmlformats.org/drawingml/2006/main">
            <a:pPr algn="ctr">
              <a:defRPr sz="848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8BB5D-7365-48CF-95D4-A181A123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66938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9DC52-2FEA-42E0-B7DB-5633BAE1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66938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7FD2C-8907-4A68-BA1E-7D10DF51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66938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57D28-5FCF-4252-8EBE-FF091FB1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66938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86F1F-BB27-4673-83FF-691D52BD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66938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FF0B6-3EAB-44B0-9748-4595A49C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4857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4749F-11BF-4F3A-9667-86F37949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15536-9991-4573-B357-187A9C79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输入变量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3C88C-37DD-4C6E-893D-E71DE5C1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material_family、dopants、Zr fraction、thickness、deposition、anneal temperature/time/atmosphere、electrode stack、device type、phase。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9E9543-F84B-4007-B4BB-7A5EA696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95650"/>
            <a:ext cx="4857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C66CA-FD1B-4E05-87EB-DA93B240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95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E9C"/>
          </a:solidFill>
          <a:ln xmlns:a="http://schemas.openxmlformats.org/drawingml/2006/main" w="0">
            <a:solidFill>
              <a:srgbClr val="7F6E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7B6740-4EB4-4192-926C-30F71475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输出目标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63CCD-CDAA-439D-A515-CECE2A43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528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第一目标为 remanent_polarization_Pr 与 double_remanent_polarization_2Pr。Ec、endurance、retention、leakage 等先放补充。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7E1E64-44DF-42D8-9AE6-4A369F77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C78BE6-CE01-4A77-AEF9-0714B450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strong_only 是主结果；strong_partial 做敏感性分析；all_traceable 支撑 RAG 和补充探索。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E3BBB8-878F-4D89-A365-98298AAC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53C82E-19F3-437E-AB08-CA31CF88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268BEE-88AF-40C8-9E1C-1893C73F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22826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1A6F01-966F-48B8-814A-459BE99A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407ED-8DCF-4E7B-9FAE-12CE7618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19252-7638-43C4-9029-C933513A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65444-43DC-4F0C-890B-0E3BFCF3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BF2C2-7FDB-4854-8BA0-D48B03E0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模型验证：用训练/验证集评判，不用训练集表现讲准确率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42FD7-252E-4DE2-A261-5731A2DC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9DEBD-247E-4BA9-9229-FF7B47F7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287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DC099-1BDC-4D36-A0DE-D28BBDCD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4305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C54F9-DA9C-4B0E-AACF-557659AB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6287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285A2-14E7-404B-871F-2D082CBD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4305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93147-5053-4522-B112-0752BBE6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6287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19B04-4E5B-4B51-A574-F82D8014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5430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F8AF7-650A-4D53-A506-A32F0C8F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28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CB348-B851-46C7-867C-F039FE17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430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EFBCE-07E7-4A6F-8E10-92B11C83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287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Best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301EE-DEA3-4D98-9668-101DB0B5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05DE2-4059-4D7B-A457-693FAF6C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287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26861-2BD2-4969-8AF3-41E91820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4305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B4D63-DDCA-4BED-B74E-63C793E4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287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65E6E-A0D2-43A1-B2B2-E87E9FB0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43050"/>
            <a:ext cx="647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35071-A502-4DEC-B90F-22A61EF7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628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563F0-46D1-4319-9202-5FCE3EEE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43050"/>
            <a:ext cx="95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E351E-041D-4300-B705-378A667A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28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Within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6A9292-F87D-4B21-9770-2D124D5D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CF7F3-BDEA-479E-9F2A-2308B818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0977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94943-CD26-4C02-AAFA-16899A4D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68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0C4899-85A8-4574-A9C9-6BA3B03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0097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219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CB453D-FDE3-4366-89F2-541E09FB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24050"/>
            <a:ext cx="68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84640-50F7-408E-97B7-0CACA04D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097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164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B05AF-7671-4966-9C82-7C231FCD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240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D342F5-E820-4EF7-9812-C7CDB8EC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0097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009562-E6FB-491B-AC41-5A2DE55D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240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F03BFD-77DB-4199-BDE8-0BD656F4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097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RandomForest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63E390-B4AE-44E9-A7E0-3A73B9BF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68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2BF0C4-37E5-4A08-857F-57D452C2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0097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10.28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BC55D4-2E78-4B13-8690-B1C9937B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24050"/>
            <a:ext cx="68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7D4D77-5D98-4BE3-8D08-603EF873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97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14.20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FB8F88-D170-4343-9B3D-3F4B09F4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0595C0-5BD7-405D-8BCF-8510A559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097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0.173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249235-5D09-47A1-B7E4-BC22294A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25B3D4-DA31-4DD6-AD66-5250C92F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97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58.2%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B221F-25F1-49CD-A4C2-95AD8902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F608E0-9BEC-4714-9B85-9D3A51A7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7172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2Pr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549281-6F16-49B0-B95D-CD762CF0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68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F46F14-2926-4D83-8F63-35E98D76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717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143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320FF7-5D3F-48C2-AD5C-72BE58FD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86000"/>
            <a:ext cx="68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0F3220-634F-4407-A201-CFAE5AF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717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E55DE0-8538-4F0C-96FA-0D5CAA90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860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975B47-E898-4095-8869-4EC90C56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37172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DAEE67-84BA-493F-9A8F-83144611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445809-B19D-4998-9A2A-54AF46A4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717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ExtraTrees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AC6192-D373-4D52-A76E-431BD6F6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68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FC0B91-D72D-42C6-8558-A89FA93E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717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12.61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2A8ECF-9089-4E9F-9D52-1E69DD20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0"/>
            <a:ext cx="68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9389A2-D78E-4CA7-8747-00DE8931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717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17.15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634C62-6F59-44AF-BA2B-20111C0B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8600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A2EB98-F20C-40FA-9012-AEB04DB7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717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0.366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C3BA9F-E4F8-4D6F-80AC-EE79D6AC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860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08B09E-4392-4BF9-B87D-4A731F5B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7172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52.8%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B82E75-557E-4767-9D8B-DD651D99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667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38C936-997B-4F4E-A789-9592A4C9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F9B33D-240C-4FBD-A43E-29D90021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模型池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2B0E61-7AE6-4C51-A210-C29A229E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34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RandomForest、ExtraTrees、GradientBoosting、Ridge、ElasticNet、SVR-RBF。统一 fixed seed holdout split。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61E4FB-B306-4E14-88EE-76B6E31A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F84040-3B37-4168-A465-8C19C24D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94D"/>
          </a:solidFill>
          <a:ln xmlns:a="http://schemas.openxmlformats.org/drawingml/2006/main" w="0">
            <a:solidFill>
              <a:srgbClr val="B9894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8726022-9CD8-4586-9C90-999BC750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解释口径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13F32F-F5D8-47AA-A95D-01347960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443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这是回归任务，accuracy 只能作为容差命中率。论文主报 MAE、RMSE、R2、baseline MAE improvement；within 5/10 μC/cm² 作为可读指标。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755C3C6-B300-48EB-8451-80C20FF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10039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666FD6-5A49-454B-BDEB-E429C793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43CEEF-52B1-40CA-81A3-92A691D5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当前判断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63F3A81-521E-40D3-B6A9-844F387C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去除弱相关后，数据可信度上升，但样本量下降，数值准确率没有显著提高。下一步应靠强相关重抽和 gold set 提高质量。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B79CBE-338E-445C-848A-913E2E2F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93F373-36C7-4F7A-A20E-90F9E29F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B8ED634-F8D1-465E-9F57-A3898863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519082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8AA05-746E-406A-A1D7-AE80532E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C3AE6-D9D3-4060-8560-1CB32221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35CFE-6D0F-4D1A-9E47-F76B2548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3006A-210F-4C68-AF48-A1A260EE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BCFB3-0407-4169-B033-8E731A6E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RAG 与图谱：保留为展示和证据检索，不作为论文唯一贡献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B7204-F1CE-4DD8-BD0C-4C6730C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3048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28B34-F003-49F8-A2A1-2879A512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09F74-0DDE-40AC-841D-AB130DF0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图谱浏览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8DDA4-CFA2-4EE2-AF47-780F4CC6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KG 用来组织材料、工艺、相、器件、性能和证据链；可视化用于探索关系和展示样品级事实。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324D3-1E52-4B90-945F-F02D0223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66850"/>
            <a:ext cx="3048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DEB19-7F0D-41EC-A7B8-B38A1588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668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E9C"/>
          </a:solidFill>
          <a:ln xmlns:a="http://schemas.openxmlformats.org/drawingml/2006/main" w="0">
            <a:solidFill>
              <a:srgbClr val="7F6E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4961B-95BF-4F01-A7C4-78D1634D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192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RAG 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F6358-CF6E-4045-BBC5-89CAE3DE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240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回答必须带 paper/title/DOI/page/evidence/fact id，避免只给自然语言总结。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11A66-35E1-454B-944D-2C78F14D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66850"/>
            <a:ext cx="3048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5AEFE-F16D-410C-9D1C-D14447A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668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41666-F2D9-4C2B-AF0E-A79B7AD6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设计建议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0B142-118E-466B-B9E9-554C9A4A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候选输出预测值、不确定性、相似文献证据和风险提示；不是让模型直接决定实验。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A5EEF-773B-4012-BCFC-0A7F1865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AB48B-77E5-4317-830D-AF168810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99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界面模块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6AB4F-A53A-4EF3-9F05-E25E5994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24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0DDB0-F2AB-4490-8F5C-BDE59243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09975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保留价值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68FADA-80DC-45E7-A3A1-37C5DFCB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D80CBC-4D57-44DA-904D-00667E42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0997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论文中位置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3C6B4-F6FC-439A-85D2-770BF48C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2EB62-D90C-4126-80DB-FFFFD0D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97192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知识图谱浏览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0ED83-A658-4977-B109-D003C51E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085E1-AE91-43FB-8FE2-75E696A9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971925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快速检查材料-工艺-性能路径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AA70D7-2486-4CA5-9EF1-33357E1A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2C9650-86C1-4660-9920-6885B681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7192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Demo / Supplement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646014-D738-4C26-9DB5-3C6DF86B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7856F-A757-44B3-8489-E40307FC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33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RAG 问答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AEE672-D3A2-4501-8043-8EC7AFBE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481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9BBBBA-2B36-4426-8481-518E1334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33875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证据追溯和设计查询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D062A7-C9E0-40F1-9918-F2394173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4815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949B12-00AB-4238-A0F4-4FAC83BA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3387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Case study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49BE1A-23B9-429E-B2BB-DEC6093E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AA0E93-70F4-4170-ACE0-AD8004FE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9582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数据分析看板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2782F9-5A22-4AC0-B1A6-1E84CCFE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ECEFCA-390E-4A0F-91B8-C7BA82B6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95825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数据分层、异常值、模型指标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487ADC-B580-4ACF-87C8-DCEBADD7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010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8CB037-E1B5-4B11-938B-F8E32D2C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9582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Reproducibility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F7B904-3543-4A40-8F6C-DE8DADBE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649635-5FB2-4365-9E5E-AE3F0373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577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材料设计工作流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FC1BF2-47B5-4C1C-AE0F-7DD6BA2A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15B02D-8D4E-4B4F-AC05-26F961DC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057775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串联 benchmark、模型、计算任务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9508C9-1F31-4927-8F05-6F7F05B2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7205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8CBFE7-ED38-4CE5-A98C-A86BC932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5777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Method workflow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280276-7D9C-461A-9E88-BB097E1F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3231A3-4534-4F2D-81FF-480ECB71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8F770A-283F-428C-90EE-1DC86DC2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17226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9FED5-6399-4B60-B50F-DD450F62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7AF48-11C5-49D8-BFEB-02EFEC6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E8D95-F460-41D6-82B4-D13795DB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CA491-7D62-490D-9632-023E43CA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7A1B1-6AA4-48A3-9FB2-899009D2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计算闭环：主流方法分工明确，先规划任务再上云计算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CDB9A-3DD0-4DA2-A891-F8C4D3F0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F5007-FEB0-462F-AAEF-84A11D2B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BF528-F8F5-4F18-8F2F-EDE5A42D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3716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6A4C6-74E1-4C53-8288-1EEC9ADB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573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主流方法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A974E-E6B3-4FE2-8BC2-74DAAD8D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71600"/>
            <a:ext cx="443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D4071-18A9-466B-A234-9B9BDDE6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4573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严谨性要求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8CD65-B72E-4C8C-BEB5-6656487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716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9856A-A3E2-4659-8C46-64459778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45732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回写 descriptors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F51EE-7062-48F5-B441-414FB176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BE002-2EB1-4856-959E-540F96D0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383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相稳定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66300-0AF0-40BA-AB7E-5C8FAB4D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526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22BFE-E314-422A-A0A5-3040BCE7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383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VASP / DFT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D3B44-8578-4277-A579-8A51611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443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0B654-7E8A-4FC7-A276-03193F44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383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比较 o/t/m/c 相；ENCUT/k-points/结构收敛；必要时用 HSE06 或文献结果校准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0B60C-8D21-4966-8B47-69488800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AAC69-76D7-4D2B-B1C9-94188287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383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deltaE_o_m, deltaE_o_t, Pcalc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563C9-2AD0-4414-847C-8DD0BB9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5AD8A-3081-4BAC-88F5-4BC9017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氧空位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355E90-6547-4183-8CC7-351BF04C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479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409E1-1623-4CBB-A48C-62FF3604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336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DFT + NEB optional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E913D-8C2D-434F-91C6-E64B9C2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443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DC69EE-ECFB-46E7-AD8C-97F56AB4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33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氧化学势、缺陷位点、charge state、有限尺寸修正；NEB 只给迁移趋势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516DD2-B1A7-40AA-9397-C592E590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D2F19-A472-4CCA-AE2C-9F79B08B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Evac, barrier, defect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4C4E05-307C-48A0-B578-3103C69D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C32F38-C550-40AC-A173-27CF7EDA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界面/电极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466D5-0302-48DC-AF74-54F4FCE0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432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2E4D37-9EFD-4FB7-91D2-A9DEB0B9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289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DFT slab / surrogate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BC8231-221C-469B-B893-3CC02DE0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43200"/>
            <a:ext cx="443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76E0AC-2138-4CE2-81AF-9D84675A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289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先 descriptor 筛查，再对 top stacks 做 slab；明确取向和终止面假设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C704F3-7C82-41E4-88EC-BABF38D7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432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6EE59E-14F8-4AF7-8F26-61288B43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289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interface proxy, scavenging risk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629294-3756-4847-9597-B981BE78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7254FA-81EC-45E6-B830-1DA4A592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42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薄膜开关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D0D877-84EF-4037-A527-621C038A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385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A3A8E2-5F07-458E-A7D9-B2CC28E6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242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Phase-field / compact model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FBA97E-8AF8-45AF-AC60-D6F77C77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443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849EEE-893D-4259-9957-36D7F55A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24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使用边界条件、厚度、屏蔽和相比例；只报告趋势，不替代实验 Pr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5C1778-DBF2-4164-8BA7-29BCDCEA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439ECE-FEEA-43DA-948A-F6B768D6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3242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domain fraction, Pr trend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37C904-73FE-440A-AA6D-601BF390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9B0F55-E7EB-4559-A972-EED74E21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95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退火动力学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8D0CF9-55FA-43B1-B4DF-11063D3D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338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9D984D-7F71-4710-82D8-440D6F20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195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ML potential MD / kinetic surrogate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8B4151-7288-4C63-846E-C9FD3B3D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33800"/>
            <a:ext cx="4438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302BFE-4851-4601-B2E2-4806934B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95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势函数必须覆盖 HfO2/HZO/掺杂/缺陷构型；用 DFT 主动学习校准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BC06C7-5780-4290-8331-DED072D2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1717D8-FA72-475E-B676-90D19DAA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8195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diffusion proxy, phase risk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9ECA1B-4F95-4019-8BD0-359D2B10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981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421A7D-CCEC-4F92-9577-B2CEE4D3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C5C"/>
          </a:solidFill>
          <a:ln xmlns:a="http://schemas.openxmlformats.org/drawingml/2006/main" w="0">
            <a:solidFill>
              <a:srgbClr val="B45C5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DD8014-2577-4556-BA53-45492864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948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科研边界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67987F-4BF7-426B-83DC-EA573274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6850"/>
            <a:ext cx="948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计算结果是物理可行性反馈，不是人工真值。第一版只生成 planned_only_no_local_execution 任务清单，人工确认后再提交 TEFS/Tencent 云。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AFE0F2-1766-4894-B772-D083F48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4B4B58-26F4-48B0-8C1D-F9AE60FB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311461-C67D-41A4-A4D0-E5CF7A9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492332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CB2536-1E77-4B97-88DA-8FD2B3FC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F0812-AB7D-4526-9570-2CDE24F3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1E79D-58E0-48B0-9900-54184EB7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BCD18-C580-43F8-B9F2-9606C2DE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21B4F-A11C-42F1-961D-80B4842F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计算智能体设计：把候选设计转成可审查的云端作业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10524-841D-4FB5-9F88-D40509BC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1430">
            <a:solidFill>
              <a:srgbClr val="4D77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4357A-5C2B-48C6-B97C-898A4B9F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478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Design</a:t>
            </a:r>
          </a:p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3E68D-80D5-4EF6-AE2A-D45C3267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123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11430">
            <a:solidFill>
              <a:srgbClr val="7AA5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B2223-B7A3-4543-A5AD-990A32FD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478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Task</a:t>
            </a:r>
          </a:p>
          <a:p xmlns:a="http://schemas.openxmlformats.org/drawingml/2006/main">
            <a:pPr algn="ctr">
              <a:defRPr sz="848" b="1">
                <a:solidFill>
                  <a:srgbClr val="7AA58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AA58D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7E1E3-4987-4715-865B-1A78A31D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90700"/>
            <a:ext cx="123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8"/>
          </a:solidFill>
          <a:ln xmlns:a="http://schemas.openxmlformats.org/drawingml/2006/main" w="11430">
            <a:solidFill>
              <a:srgbClr val="B45C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4CB21-5834-4446-813A-E2B7661F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478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B45C5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45C5C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defRPr sz="848" b="1">
                <a:solidFill>
                  <a:srgbClr val="B45C5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45C5C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B15BA-7F7C-46C6-99A3-70580725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11430">
            <a:solidFill>
              <a:srgbClr val="7F6E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682BB-B081-45B7-806C-4D34606E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478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TEFS Cloud</a:t>
            </a:r>
          </a:p>
          <a:p xmlns:a="http://schemas.openxmlformats.org/drawingml/2006/main">
            <a:pPr algn="ctr">
              <a:defRPr sz="848" b="1">
                <a:solidFill>
                  <a:srgbClr val="7F6E9C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7F6E9C"/>
                </a:solidFill>
                <a:latin typeface="Arial"/>
                <a:ea typeface="Arial"/>
                <a:cs typeface="Arial"/>
              </a:rPr>
              <a:t>Workbench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75E0F-DBB7-48A1-B52C-24E07AF6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123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11430">
            <a:solidFill>
              <a:srgbClr val="B98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A2717-91C6-42CC-931C-DCA738B0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Results</a:t>
            </a:r>
          </a:p>
          <a:p xmlns:a="http://schemas.openxmlformats.org/drawingml/2006/main">
            <a:pPr algn="ctr">
              <a:defRPr sz="848" b="1">
                <a:solidFill>
                  <a:srgbClr val="B9894D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B9894D"/>
                </a:solidFill>
                <a:latin typeface="Arial"/>
                <a:ea typeface="Arial"/>
                <a:cs typeface="Arial"/>
              </a:rPr>
              <a:t>Parser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53280-E7BB-4A2C-A07C-2046637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907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11430">
            <a:solidFill>
              <a:srgbClr val="4D77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9CD36-9435-4A5C-8809-E7868F40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478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KG / Benchmark</a:t>
            </a:r>
          </a:p>
          <a:p xmlns:a="http://schemas.openxmlformats.org/drawingml/2006/main">
            <a:pPr algn="ctr">
              <a:defRPr sz="848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8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Writeback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451E6-55EE-4DE8-B48F-62A2FE92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19313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D6B60-C7C6-4C77-8B62-9579A10B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9313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7FAF3-E418-44A4-A181-3E1FE462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19313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EC7C8-905B-4706-A41F-5DABC035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9313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E3A3F-CF6E-45A7-9C86-0BB80EF9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9313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0D2C2-8A30-4159-B9C9-AAB44316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819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FB45E-5B1F-4B80-BEF4-C1C80102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0495F5-D4EA-4F22-B46F-750FC8C8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本地侧已完成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64244-271F-45BC-ABCB-52853754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从 evidence-constrained candidates 生成 computational_feedback_tasks.csv/json/md：任务类型、引擎、目标、输入、输出、回写字段和安全状态。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B1BD7-8F63-41AE-AF42-F647BA33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4819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E0C439-8ED6-4813-80C1-363E7802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E9C"/>
          </a:solidFill>
          <a:ln xmlns:a="http://schemas.openxmlformats.org/drawingml/2006/main" w="0">
            <a:solidFill>
              <a:srgbClr val="7F6E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810592-078D-4991-A7E3-2292225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云端侧待接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253DDB-9980-4181-8333-E9B2D91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你提供 TEFS/Tencent 云环境信息后，再补 SSH/队列/路径配置。密钥只走环境变量或 SSH agent，不进入代码和 PPT。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A60E9-C9C2-4A4E-A0AE-DDAD4733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C5C"/>
          </a:solidFill>
          <a:ln xmlns:a="http://schemas.openxmlformats.org/drawingml/2006/main" w="0">
            <a:solidFill>
              <a:srgbClr val="B45C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98F9A1-3B76-40A7-81E5-F4F6F48A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任务默认状态：planned_only_no_local_execution；不会自动消耗本机资源或云端费用。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6B1540-571F-4A94-947B-9D8B640A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1153E9-2B6F-4602-A49E-A3293317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F09D17-FC33-4F9D-82B2-D17EB258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97277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36DEA4-2C77-4C55-B158-B47BBBBA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96AF4-1C68-4968-83D1-2326AFCA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E11DF-A260-42C3-809E-0B8369CC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98E5D-B283-4FDA-ADC4-9FAB0922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5AAB5-E1CF-42E7-999A-1D819515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接下来怎么推进：把原型变成可投稿结果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8C28E-2103-423C-9684-64EB66D7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1E1C1-69AB-4730-923C-C0CAC769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144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阶段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C4E15-B852-47DF-B0B5-064A8A7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428750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CD70C-0E54-413E-8704-742FC06B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14475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8D67D-A0DC-4A31-A751-EAA86D0A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2875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C60DB-93CC-427B-9D08-3E68E405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14475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757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完成标准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1989B-1F17-4B21-BEFD-2268B741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1DE0B-47C8-4473-B226-B7167B6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95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A. 数据冻结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3C248-1C80-4787-8CE4-A677B9F3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60F0B-D51C-40BD-AB7E-448089FF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95475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确认 HfO2/HZO/doped HfO2 范围和当前快照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10770-0516-4451-9788-8ED01544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C8E4E-9A38-4C14-A25B-D7C54FD0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9547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版本化数据规模表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228E1-48DE-4B50-9247-B65AF3AD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585CD-9786-4487-82B0-72E2C10C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76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B. Gold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CC230-588B-453B-810E-B2B985A9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55A4A-7006-45B4-94AA-9C2825BA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76475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30 篇论文人工标注材料、工艺、相、Pr/2Pr、页码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72C3F-0C92-4040-B8E2-DEF81122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6C69AB-7849-4880-A065-5F006275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7647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F1/linking/confusion/unit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1A88-CD7B-4165-996D-89DAC613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7672B-5F16-4962-9AFF-1FA4C9A0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C. 强相关重抽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A730B-2CD9-4E1E-84D1-50EB14B5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717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B87BCB-094B-4BF0-AA0A-13071ADB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57475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对 136 篇强相关论文重跑高价值 chunk 抽取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DCE95-D457-41C1-BDE5-500F6E0A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9E670-B689-4DA6-B6A4-CD8D7332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5747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strong_only/partial 重建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AF9350-76BD-47D6-92BD-07A647AE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AF35C-44D5-4C71-9E15-B0112279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38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D. 模型验证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F1614-8D1A-49AC-9BBD-13AAD74F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9C9812-D420-494F-A71E-168B1F18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38475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六类通用模型按固定验证集评判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4492C7-FC9C-4F03-870D-214F1003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1A4F8E-D4A4-4D67-96AB-74C0AF7C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3847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MAE/RMSE/R2/within10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16FA39-1F05-489A-AF96-136C1F5F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8F42D1-3E24-4DD4-B154-B909A7E0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19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E. 计算反馈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649C04-1345-43A1-9BAD-D3695024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337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2E6307-0B89-4DE5-BDA3-5DA35F14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19475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对 top candidates 生成并人工审查计算任务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3510D6-FD0E-4E5D-A2DB-0D5A6AB9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337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90C740-DBA0-4CBD-A04C-0BB5B899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1947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DFT/相场/MD 任务清单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F28A1D-B7B4-41D4-82C1-D9043AD0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1EF8B1-8224-4C4E-94BF-D471D3DF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F. 论文图表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F5A158-881A-4B04-87AC-990521AC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147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91EDC8-FB39-4775-B6FE-B2C9DE31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00475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方法图、数据规模表、benchmark 表、模型表、风险表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1D4856-0EDA-4620-93F2-68A8FB6C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8440D2-7FAF-4FCA-A5C4-B4C5F1D9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0047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757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可放入 manuscript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8449A3-BB9C-40A1-949B-3EC2DE38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52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7C9F18-3F68-450E-9470-EEC81CF0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47503D-96DB-4D9B-8F33-A724EEE1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920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最小可发表点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83DC24-99B0-43D8-8663-C2B89583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9700"/>
            <a:ext cx="920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文献驱动、样品级、证据可追溯的 HfO2/HZO Pr/2Pr benchmark，比泛泛 KG 或网页 demo 更像论文贡献。计算闭环作为增强方法和后续验证能力。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B3D1D3-57C9-4537-914D-3602CD23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DF7036-C2FB-4EF0-B577-0A5D228D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384F02-CB9B-4AD6-A3DD-1FAB9F4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081337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61BC86-F115-40DB-9FAC-C975B7D9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0">
            <a:solidFill>
              <a:srgbClr val="F8F9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61788-0E94-4D8D-8E78-8F85750D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8B09A-AABD-47CA-AC36-F131DF1F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EE4"/>
          </a:solidFill>
          <a:ln xmlns:a="http://schemas.openxmlformats.org/drawingml/2006/main" w="0">
            <a:solidFill>
              <a:srgbClr val="9D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26F2B-008C-4773-8653-BCF94BF4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4D77A7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4D77A7"/>
                </a:solidFill>
                <a:latin typeface="Arial"/>
                <a:ea typeface="Arial"/>
                <a:cs typeface="Arial"/>
              </a:rPr>
              <a:t>HfO2-FerroKG | 论文级工作流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E36E1-2B21-4F29-8D45-D3516784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汇报总结：一个点做深，而不是把功能堆满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18564-D93C-4718-9DA4-41B1DBC7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4476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D692F-3754-4C69-B512-C34BF8DA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AF3B0-D050-4636-B0D5-BE06D671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1925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当前已经具备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99778-2059-4CFC-A5AF-A54B42C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数据规模、样品级关联、分层 benchmark、强相关切片、六类模型验证、计算反馈任务规划和 Streamlit demo。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F0E9B-7C58-42A2-91C1-660B6FE7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4476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C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78F7F-6AC6-4C17-BBBB-85EF17F1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94D"/>
          </a:solidFill>
          <a:ln xmlns:a="http://schemas.openxmlformats.org/drawingml/2006/main" w="0">
            <a:solidFill>
              <a:srgbClr val="B989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EA6EB-0671-4C75-932F-C91E6655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还要补强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2A060-43BA-4016-AA5B-19600E87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415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Gold set、强相关全量重抽、人工复核队列、模型复跑、计算任务人工审查和 TEFS/Tencent 云端执行接口。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4740E-617C-48E7-8BB4-69D5965B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954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2EAAA-9A16-4DF2-9233-8CBA534D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58D"/>
          </a:solidFill>
          <a:ln xmlns:a="http://schemas.openxmlformats.org/drawingml/2006/main" w="0">
            <a:solidFill>
              <a:srgbClr val="7AA58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AECAC-92BB-4CD7-A937-3AC90858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922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论文主张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B259A-15E5-4561-B562-821F7DD2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922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HfO2-FerroKG 不是“网页平台”，而是一套把文献证据转成 KG、benchmark、模型验证和计算反馈的材料设计方法。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F765F-3040-43F1-A9C7-BBF6FFA0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2033"/>
                </a:solidFill>
                <a:latin typeface="Arial"/>
                <a:ea typeface="Arial"/>
                <a:cs typeface="Arial"/>
              </a:rPr>
              <a:t>参考方法方向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C743C-FD88-4B39-9D2D-80F492DB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E9C"/>
          </a:solidFill>
          <a:ln xmlns:a="http://schemas.openxmlformats.org/drawingml/2006/main" w="0">
            <a:solidFill>
              <a:srgbClr val="7F6E9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118F1-9619-48A9-B22D-7D739B03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DFT / first-principles：相稳定、极化、氧空位、界面；phase-field：薄膜畴与开关趋势；ML potential/MD：大尺度动力学，但必须先验证适用域。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B8C0B-BC01-4C62-8387-DCAD65B4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7A7"/>
          </a:solidFill>
          <a:ln xmlns:a="http://schemas.openxmlformats.org/drawingml/2006/main" w="0">
            <a:solidFill>
              <a:srgbClr val="4D77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3AEDC-4477-430A-A6DD-A92BE333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所有输出回到 KG/benchmark，作为 descriptors 和风险评分，不直接替代实验文献证据。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5E1B0-BDF1-4D91-8F88-2BA91D46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solidFill>
              <a:srgbClr val="DCE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15DA5-5266-46C2-BF71-8D59DF39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HfO2/HZO 文献驱动知识图谱、Benchmark 与计算反馈闭环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6CB492-824F-483A-AB19-DF46E170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8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8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90091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2026-06-09T16:06:48.8700000Z</dcterms:created>
  <dcterms:modified xsi:type="dcterms:W3CDTF">2026-06-09T16:06:48.8700000Z</dcterms:modified>
</coreProperties>
</file>